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9d62bb23634324" /><Relationship Type="http://schemas.openxmlformats.org/officeDocument/2006/relationships/extended-properties" Target="/docProps/app.xml" Id="Re4362d1a4f6b47a7" /><Relationship Type="http://schemas.openxmlformats.org/officeDocument/2006/relationships/officeDocument" Target="/ppt/presentation.xml" Id="R1c6d0e669f224b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ea00017cd14114"/>
  </p:sldMasterIdLst>
  <p:notesMasterIdLst>
    <p:notesMasterId xmlns:r="http://schemas.openxmlformats.org/officeDocument/2006/relationships" r:id="R369ee3285a3b4dc8"/>
  </p:notesMasterIdLst>
  <p:sldIdLst>
    <p:sldId xmlns:r="http://schemas.openxmlformats.org/officeDocument/2006/relationships" id="256" r:id="R2afd9d70614d4f1d"/>
    <p:sldId xmlns:r="http://schemas.openxmlformats.org/officeDocument/2006/relationships" id="257" r:id="R15d48381c69c49e0"/>
    <p:sldId xmlns:r="http://schemas.openxmlformats.org/officeDocument/2006/relationships" id="258" r:id="Rc7534067c42f4c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4464e66b88492a" /><Relationship Type="http://schemas.openxmlformats.org/officeDocument/2006/relationships/slideMaster" Target="/ppt/slideMasters/slideMaster1.xml" Id="R45ea00017cd14114" /><Relationship Type="http://schemas.openxmlformats.org/officeDocument/2006/relationships/notesMaster" Target="/ppt/notesMasters/notesMaster1.xml" Id="R369ee3285a3b4dc8" /><Relationship Type="http://schemas.openxmlformats.org/officeDocument/2006/relationships/presProps" Target="/ppt/presProps.xml" Id="R35c6b1846eec42cd" /><Relationship Type="http://schemas.openxmlformats.org/officeDocument/2006/relationships/tableStyles" Target="/ppt/tableStyles.xml" Id="R637c5220d16e408f" /><Relationship Type="http://schemas.openxmlformats.org/officeDocument/2006/relationships/slide" Target="/ppt/slides/slide1.xml" Id="R2afd9d70614d4f1d" /><Relationship Type="http://schemas.openxmlformats.org/officeDocument/2006/relationships/slide" Target="/ppt/slides/slide2.xml" Id="R15d48381c69c49e0" /><Relationship Type="http://schemas.openxmlformats.org/officeDocument/2006/relationships/slide" Target="/ppt/slides/slide3.xml" Id="Rc7534067c42f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e2662da7494d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603156b39f4b17" /><Relationship Type="http://schemas.openxmlformats.org/officeDocument/2006/relationships/notesMaster" Target="/ppt/notesMasters/notesMaster1.xml" Id="Rea38f05ba95642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00badb50d64095" /><Relationship Type="http://schemas.openxmlformats.org/officeDocument/2006/relationships/notesMaster" Target="/ppt/notesMasters/notesMaster1.xml" Id="R70f5d4e03b0a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d082ee1af54bf5" /><Relationship Type="http://schemas.openxmlformats.org/officeDocument/2006/relationships/notesMaster" Target="/ppt/notesMasters/notesMaster1.xml" Id="R7afee52c96c341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 SUNAT, consulta 5 de octubre de 2026.</a:t>
            </a:r>
          </a:p>
          <a:p xmlns:a="http://schemas.openxmlformats.org/drawingml/2006/main">
            <a:r>
              <a:t>https://cpe.sunat.gob.pe/informacion_general/tipos_comprobantes_pago</a:t>
            </a:r>
          </a:p>
          <a:p xmlns:a="http://schemas.openxmlformats.org/drawingml/2006/main">
            <a:r>
              <a:t>https://cpe.sunat.gob.pe/informacion_general/preguntas_frecuentes</a:t>
            </a:r>
          </a:p>
          <a:p xmlns:a="http://schemas.openxmlformats.org/drawingml/2006/main">
            <a:r>
              <a:t>https://emprender.sunat.gob.pe/principales-impuestos/impuesto-general-las-ventas-igv/impuesto-general-las-ventas</a:t>
            </a:r>
          </a:p>
          <a:p xmlns:a="http://schemas.openxmlformats.org/drawingml/2006/main">
            <a:r>
              <a:t>Ejemplos numéricos propios; no sustituyen la revisión normativa de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 SUNAT, consulta 5 de octubre de 2026.</a:t>
            </a:r>
          </a:p>
          <a:p xmlns:a="http://schemas.openxmlformats.org/drawingml/2006/main">
            <a:r>
              <a:t>https://cpe.sunat.gob.pe/informacion_general/tipos_comprobantes_pago</a:t>
            </a:r>
          </a:p>
          <a:p xmlns:a="http://schemas.openxmlformats.org/drawingml/2006/main">
            <a:r>
              <a:t>https://cpe.sunat.gob.pe/informacion_general/preguntas_frecuentes</a:t>
            </a:r>
          </a:p>
          <a:p xmlns:a="http://schemas.openxmlformats.org/drawingml/2006/main">
            <a:r>
              <a:t>https://emprender.sunat.gob.pe/principales-impuestos/impuesto-general-las-ventas-igv/impuesto-general-las-ventas</a:t>
            </a:r>
          </a:p>
          <a:p xmlns:a="http://schemas.openxmlformats.org/drawingml/2006/main">
            <a:r>
              <a:t>Ejemplos numéricos propios; no sustituyen la revisión normativa de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oficiales SUNAT, consulta 5 de octubre de 2026.</a:t>
            </a:r>
          </a:p>
          <a:p xmlns:a="http://schemas.openxmlformats.org/drawingml/2006/main">
            <a:r>
              <a:t>https://cpe.sunat.gob.pe/informacion_general/tipos_comprobantes_pago</a:t>
            </a:r>
          </a:p>
          <a:p xmlns:a="http://schemas.openxmlformats.org/drawingml/2006/main">
            <a:r>
              <a:t>https://cpe.sunat.gob.pe/informacion_general/preguntas_frecuentes</a:t>
            </a:r>
          </a:p>
          <a:p xmlns:a="http://schemas.openxmlformats.org/drawingml/2006/main">
            <a:r>
              <a:t>https://emprender.sunat.gob.pe/principales-impuestos/impuesto-general-las-ventas-igv/impuesto-general-las-ventas</a:t>
            </a:r>
          </a:p>
          <a:p xmlns:a="http://schemas.openxmlformats.org/drawingml/2006/main">
            <a:r>
              <a:t>Ejemplos numéricos propios; no sustituyen la revisión normativa de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29cbcd0ab46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413f537f349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e11701eac4d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67991c2064d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e0c30044b4a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a3ddb42ca41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87348F-08B6-4F57-8898-DDF3D6285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489053-D3EF-4BF8-8C8D-7F01254F53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223E192-ADB0-41EB-977E-8C490F9DA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5909B9-0447-4B54-8DE9-C8526653D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B6F28C-5582-4A38-883D-13061AB27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22A318-F634-45BD-BD39-6CF884E4D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6DBE96-D51E-47B9-B820-943C69137B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67140D-76D1-4CD9-AED7-C986EE3B1E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6674A8-5B24-4AA4-A9FA-B31DA722C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BA754D-F9F3-4232-9ACF-F0DD8AAE56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33e9ba0b3b4151" /><Relationship Type="http://schemas.openxmlformats.org/officeDocument/2006/relationships/slideLayout" Target="/ppt/slideLayouts/slideLayout1.xml" Id="R6c460f7123ef43f7" /><Relationship Type="http://schemas.openxmlformats.org/officeDocument/2006/relationships/slideLayout" Target="/ppt/slideLayouts/slideLayout2.xml" Id="Ra2c45a14ca5d4111" /><Relationship Type="http://schemas.openxmlformats.org/officeDocument/2006/relationships/slideLayout" Target="/ppt/slideLayouts/slideLayout3.xml" Id="Rd6a3b5b36e8f475d" /><Relationship Type="http://schemas.openxmlformats.org/officeDocument/2006/relationships/slideLayout" Target="/ppt/slideLayouts/slideLayout4.xml" Id="R3a644f5d7c5449c9" /><Relationship Type="http://schemas.openxmlformats.org/officeDocument/2006/relationships/slideLayout" Target="/ppt/slideLayouts/slideLayout5.xml" Id="Raba505c6db3f4510" /><Relationship Type="http://schemas.openxmlformats.org/officeDocument/2006/relationships/slideLayout" Target="/ppt/slideLayouts/slideLayout6.xml" Id="R5db104485f2243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460f7123ef43f7"/>
    <p:sldLayoutId xmlns:r="http://schemas.openxmlformats.org/officeDocument/2006/relationships" id="2147483650" r:id="Ra2c45a14ca5d4111"/>
    <p:sldLayoutId xmlns:r="http://schemas.openxmlformats.org/officeDocument/2006/relationships" id="2147483651" r:id="Rd6a3b5b36e8f475d"/>
    <p:sldLayoutId xmlns:r="http://schemas.openxmlformats.org/officeDocument/2006/relationships" id="2147483652" r:id="R3a644f5d7c5449c9"/>
    <p:sldLayoutId xmlns:r="http://schemas.openxmlformats.org/officeDocument/2006/relationships" id="2147483653" r:id="Raba505c6db3f4510"/>
    <p:sldLayoutId xmlns:r="http://schemas.openxmlformats.org/officeDocument/2006/relationships" id="2147483654" r:id="R5db104485f2243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d65b1e3c64f6e" /><Relationship Type="http://schemas.openxmlformats.org/officeDocument/2006/relationships/image" Target="/ppt/media/image.png" Id="Rcd772ae625b44ab6" /><Relationship Type="http://schemas.openxmlformats.org/officeDocument/2006/relationships/notesSlide" Target="/ppt/notesSlides/notesSlide1.xml" Id="R77b69520ef794a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45ba3b3f3b4dac" /><Relationship Type="http://schemas.openxmlformats.org/officeDocument/2006/relationships/image" Target="/ppt/media/image2.png" Id="R9a38c31b65664648" /><Relationship Type="http://schemas.openxmlformats.org/officeDocument/2006/relationships/notesSlide" Target="/ppt/notesSlides/notesSlide2.xml" Id="R18a37b13de0048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08335438d4c4b" /><Relationship Type="http://schemas.openxmlformats.org/officeDocument/2006/relationships/image" Target="/ppt/media/image3.png" Id="R44f172f81add4e8f" /><Relationship Type="http://schemas.openxmlformats.org/officeDocument/2006/relationships/notesSlide" Target="/ppt/notesSlides/notesSlide3.xml" Id="R38686f4bf72947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B91A3-625D-4734-901F-3D4EE5BCB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72ae625b44ab6"/>
          <a:stretch xmlns:a="http://schemas.openxmlformats.org/drawingml/2006/main"/>
        </p:blipFill>
        <p:spPr>
          <a:xfrm xmlns:a="http://schemas.openxmlformats.org/drawingml/2006/main">
            <a:off x="609600" y="243246"/>
            <a:ext cx="2476500" cy="713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E9219-1B81-458D-A231-F76F4958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Especialización en Contabilidad Práctica para la Gestión de MYPES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39E6C-47AF-4E8C-B142-67940019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MÓDULO 1 · EMISIÓN Y GESTIÓN DE COMPROBANTES ELECTRÓNICOS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F2DB3-9290-4284-9D17-12C3694C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Elegir el comprobante adecuado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EB19E-B5B9-47CD-AE49-10FE7464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FACTURA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Para operaciones con adquirentes que requieren sustentar costo, gasto o crédito fiscal, cumpliendo los requisitos legales.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BOLETA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Orientada al consumidor final. No otorga crédito fiscal como regla general.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FCD56-DC33-4663-9F05-8F5C2D1F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953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Caso simulado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Una MYPE compra mercadería para su negocio: verifica su RUC y solicita factura.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Una persona compra para uso personal: corresponde evaluar la emisión de boleta.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El documento depende de la operación y del adquirente, no solo del importe.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AD85B-FEF6-4457-9CE2-7E4AA89C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Factura, boleta, nota de crédito y nota de débito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683AA-B0EC-4454-80FB-E091E97A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rPr>
              <a:t>Material didáctico · Casos simulados · Revisión docente requerida     1/3</a:t>
            </a:r>
          </a:p>
        </p:txBody>
      </p:sp>
    </p:spTree>
    <p:extLst>
      <p:ext uri="{BB962C8B-B14F-4D97-AF65-F5344CB8AC3E}">
        <p14:creationId xmlns:p14="http://schemas.microsoft.com/office/powerpoint/2010/main" val="1601382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75A08-98AD-4F3B-A61A-BBC84C5C2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8c31b65664648"/>
          <a:stretch xmlns:a="http://schemas.openxmlformats.org/drawingml/2006/main"/>
        </p:blipFill>
        <p:spPr>
          <a:xfrm xmlns:a="http://schemas.openxmlformats.org/drawingml/2006/main">
            <a:off x="609600" y="243246"/>
            <a:ext cx="2476500" cy="713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1BB3F-07B2-452F-BE91-4F8B5F9F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Especialización en Contabilidad Práctica para la Gestión de MYPES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34EE4-26BE-438B-B25D-26C2394B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MÓDULO 1 · EMISIÓN Y GESTIÓN DE COMPROBANTES ELECTRÓNICOS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A300-AAD3-4FDC-8DB2-06203021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Corregir sin perder la trazabilidad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7E64D-EA32-485B-BAB9-584DA586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NOTA DE CRÉDITO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Vinculada al comprobante original: permite documentar, según corresponda, devoluciones, descuentos o anulaciones.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NOTA DE DÉBITO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Documenta la recuperación de costos o gastos posteriores, conforme a las reglas aplicables.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EA7D1-8EBC-49EF-9D71-874A2DAD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953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Ejemplo de descuento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Factura: base S/ 1 000 + IGV S/ 180 = S/ 1 180.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Descuento del 10 %: nota de crédito por S/ 100 + S/ 18 = S/ 118.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Saldo ajustado: S/ 1 062.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Supuesto didáctico: operación a tasa general.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39490-9455-43DB-B81A-90767F99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Factura, boleta, nota de crédito y nota de débito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129DF-3648-44D7-A199-57BB12BE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rPr>
              <a:t>Material didáctico · Casos simulados · Revisión docente requerida     2/3</a:t>
            </a:r>
          </a:p>
        </p:txBody>
      </p:sp>
    </p:spTree>
    <p:extLst>
      <p:ext uri="{BB962C8B-B14F-4D97-AF65-F5344CB8AC3E}">
        <p14:creationId xmlns:p14="http://schemas.microsoft.com/office/powerpoint/2010/main" val="1020165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278EF-8262-485A-800E-10F0CD3873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172f81add4e8f"/>
          <a:stretch xmlns:a="http://schemas.openxmlformats.org/drawingml/2006/main"/>
        </p:blipFill>
        <p:spPr>
          <a:xfrm xmlns:a="http://schemas.openxmlformats.org/drawingml/2006/main">
            <a:off x="609600" y="243246"/>
            <a:ext cx="2476500" cy="71365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73ED3-C5F5-4E77-8AF8-3550341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Especialización en Contabilidad Práctica para la Gestión de MYPES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2D61F-370D-4F53-8358-43522C6E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MÓDULO 1 · EMISIÓN Y GESTIÓN DE COMPROBANTES ELECTRÓNICOS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28D26-811B-4B88-AD10-35E62599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2956"/>
                </a:solidFill>
                <a:latin typeface="Helvetica Neue"/>
                <a:ea typeface="Helvetica Neue"/>
                <a:cs typeface="Helvetica Neue"/>
              </a:rPr>
              <a:t>Un circuito documental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4FA90-3F5C-4FB8-B3DF-D217D5DE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1. IDENTIFICAR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¿Quién compra y para qué? Confirmar datos antes de emitir.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2. EMITIR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Elegir el tipo de comprobante y comprobar su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3. VINCULAR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Toda corrección debe conservar su relación con el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9656C-8750-420A-9236-4B01D154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953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Control recomendado</a:t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Archivar el comprobante original y la nota asociada.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Conciliar el importe original, el ajuste y el saldo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No confundir borrar un archivo PDF con anular un comprobante.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74D"/>
                </a:solidFill>
                <a:latin typeface="Helvetica Neue"/>
                <a:ea typeface="Helvetica Neue"/>
                <a:cs typeface="Helvetica Neue"/>
              </a:rPr>
              <a:t>Verificar la normativa y el sistema de emisión utilizado.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41642-B543-4292-8EC0-DFB1191E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Factura, boleta, nota de crédito y nota de débito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0BE79-3842-4909-BFCE-95D5B2F0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57386"/>
                </a:solidFill>
                <a:latin typeface="Helvetica Neue"/>
                <a:ea typeface="Helvetica Neue"/>
                <a:cs typeface="Helvetica Neue"/>
              </a:rPr>
              <a:t>Material didáctico · Casos simulados · Revisión docente requerida     3/3</a:t>
            </a:r>
          </a:p>
        </p:txBody>
      </p:sp>
    </p:spTree>
    <p:extLst>
      <p:ext uri="{BB962C8B-B14F-4D97-AF65-F5344CB8AC3E}">
        <p14:creationId xmlns:p14="http://schemas.microsoft.com/office/powerpoint/2010/main" val="731939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2026-10-05T17:37:50.2160000Z</dcterms:created>
  <dcterms:modified xsi:type="dcterms:W3CDTF">2026-10-05T17:37:50.2170000Z</dcterms:modified>
</coreProperties>
</file>