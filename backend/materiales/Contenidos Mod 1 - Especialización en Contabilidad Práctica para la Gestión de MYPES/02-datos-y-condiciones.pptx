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64922001efa43fe" /><Relationship Type="http://schemas.openxmlformats.org/officeDocument/2006/relationships/extended-properties" Target="/docProps/app.xml" Id="R5f29c424f7154cc5" /><Relationship Type="http://schemas.openxmlformats.org/officeDocument/2006/relationships/officeDocument" Target="/ppt/presentation.xml" Id="R1b17c16f9b7a45e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47bc9db0b2d4175"/>
  </p:sldMasterIdLst>
  <p:notesMasterIdLst>
    <p:notesMasterId xmlns:r="http://schemas.openxmlformats.org/officeDocument/2006/relationships" r:id="Re1fce32fdaeb4ed0"/>
  </p:notesMasterIdLst>
  <p:sldIdLst>
    <p:sldId xmlns:r="http://schemas.openxmlformats.org/officeDocument/2006/relationships" id="256" r:id="Ra661235709074be4"/>
    <p:sldId xmlns:r="http://schemas.openxmlformats.org/officeDocument/2006/relationships" id="257" r:id="Rb6c11e4ab9004a44"/>
    <p:sldId xmlns:r="http://schemas.openxmlformats.org/officeDocument/2006/relationships" id="258" r:id="R08774813a1114a5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eada670c9dd4966" /><Relationship Type="http://schemas.openxmlformats.org/officeDocument/2006/relationships/slideMaster" Target="/ppt/slideMasters/slideMaster1.xml" Id="R047bc9db0b2d4175" /><Relationship Type="http://schemas.openxmlformats.org/officeDocument/2006/relationships/notesMaster" Target="/ppt/notesMasters/notesMaster1.xml" Id="Re1fce32fdaeb4ed0" /><Relationship Type="http://schemas.openxmlformats.org/officeDocument/2006/relationships/presProps" Target="/ppt/presProps.xml" Id="R0b40dc0fc30840a9" /><Relationship Type="http://schemas.openxmlformats.org/officeDocument/2006/relationships/tableStyles" Target="/ppt/tableStyles.xml" Id="Rf485954745624a4b" /><Relationship Type="http://schemas.openxmlformats.org/officeDocument/2006/relationships/slide" Target="/ppt/slides/slide1.xml" Id="Ra661235709074be4" /><Relationship Type="http://schemas.openxmlformats.org/officeDocument/2006/relationships/slide" Target="/ppt/slides/slide2.xml" Id="Rb6c11e4ab9004a44" /><Relationship Type="http://schemas.openxmlformats.org/officeDocument/2006/relationships/slide" Target="/ppt/slides/slide3.xml" Id="R08774813a1114a5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742746c22284a1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82cd80ff36d43eb" /><Relationship Type="http://schemas.openxmlformats.org/officeDocument/2006/relationships/notesMaster" Target="/ppt/notesMasters/notesMaster1.xml" Id="R1c369c244dae4dc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84db789a88844a6" /><Relationship Type="http://schemas.openxmlformats.org/officeDocument/2006/relationships/notesMaster" Target="/ppt/notesMasters/notesMaster1.xml" Id="Rfde23736f7d3455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b221156382c4eb5" /><Relationship Type="http://schemas.openxmlformats.org/officeDocument/2006/relationships/notesMaster" Target="/ppt/notesMasters/notesMaster1.xml" Id="Rc0681e80e812457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Fuentes oficiales SUNAT, consulta 5 de octubre de 2026.</a:t>
            </a:r>
          </a:p>
          <a:p xmlns:a="http://schemas.openxmlformats.org/drawingml/2006/main">
            <a:r>
              <a:t>https://cpe.sunat.gob.pe/informacion_general/tipos_comprobantes_pago</a:t>
            </a:r>
          </a:p>
          <a:p xmlns:a="http://schemas.openxmlformats.org/drawingml/2006/main">
            <a:r>
              <a:t>https://cpe.sunat.gob.pe/informacion_general/preguntas_frecuentes</a:t>
            </a:r>
          </a:p>
          <a:p xmlns:a="http://schemas.openxmlformats.org/drawingml/2006/main">
            <a:r>
              <a:t>https://emprender.sunat.gob.pe/principales-impuestos/impuesto-general-las-ventas-igv/impuesto-general-las-ventas</a:t>
            </a:r>
          </a:p>
          <a:p xmlns:a="http://schemas.openxmlformats.org/drawingml/2006/main">
            <a:r>
              <a:t>Ejemplos numéricos propios; no sustituyen la revisión normativa de una operación real.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Fuentes oficiales SUNAT, consulta 5 de octubre de 2026.</a:t>
            </a:r>
          </a:p>
          <a:p xmlns:a="http://schemas.openxmlformats.org/drawingml/2006/main">
            <a:r>
              <a:t>https://cpe.sunat.gob.pe/informacion_general/tipos_comprobantes_pago</a:t>
            </a:r>
          </a:p>
          <a:p xmlns:a="http://schemas.openxmlformats.org/drawingml/2006/main">
            <a:r>
              <a:t>https://cpe.sunat.gob.pe/informacion_general/preguntas_frecuentes</a:t>
            </a:r>
          </a:p>
          <a:p xmlns:a="http://schemas.openxmlformats.org/drawingml/2006/main">
            <a:r>
              <a:t>https://emprender.sunat.gob.pe/principales-impuestos/impuesto-general-las-ventas-igv/impuesto-general-las-ventas</a:t>
            </a:r>
          </a:p>
          <a:p xmlns:a="http://schemas.openxmlformats.org/drawingml/2006/main">
            <a:r>
              <a:t>Ejemplos numéricos propios; no sustituyen la revisión normativa de una operación real.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Fuentes oficiales SUNAT, consulta 5 de octubre de 2026.</a:t>
            </a:r>
          </a:p>
          <a:p xmlns:a="http://schemas.openxmlformats.org/drawingml/2006/main">
            <a:r>
              <a:t>https://cpe.sunat.gob.pe/informacion_general/tipos_comprobantes_pago</a:t>
            </a:r>
          </a:p>
          <a:p xmlns:a="http://schemas.openxmlformats.org/drawingml/2006/main">
            <a:r>
              <a:t>https://cpe.sunat.gob.pe/informacion_general/preguntas_frecuentes</a:t>
            </a:r>
          </a:p>
          <a:p xmlns:a="http://schemas.openxmlformats.org/drawingml/2006/main">
            <a:r>
              <a:t>https://emprender.sunat.gob.pe/principales-impuestos/impuesto-general-las-ventas-igv/impuesto-general-las-ventas</a:t>
            </a:r>
          </a:p>
          <a:p xmlns:a="http://schemas.openxmlformats.org/drawingml/2006/main">
            <a:r>
              <a:t>Ejemplos numéricos propios; no sustituyen la revisión normativa de una operación real.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1056677a340406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3484da4e2f9404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2137f5038bb46a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06a587c29c4d3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1dfdaae1986477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326d648ba91448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97A2297-C209-4CBF-A78B-E11B1E12FA0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C5FC8CA7-0A15-48C9-99B9-3F6F57E26D3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17767AB9-9FC9-4770-B9C2-81CC45BF9E9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6D9A337-701A-4B7C-AFC3-8E830CB2D8E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D7AAD65-F320-4B91-80CB-19F4424D4CF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9F4AD6A-5FEB-45C1-9D6D-395E68528AD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2A954BE-19BA-4DBD-A3A8-937807CCC4E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DF175843-A11B-4DA4-8DF8-6F2087AA0DE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99AA1BA-AF4B-43F8-BF6B-79BBB2261E6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78C4EC2-40FA-4815-BB0A-5B8E9ABDFA8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d847272a8594f69" /><Relationship Type="http://schemas.openxmlformats.org/officeDocument/2006/relationships/slideLayout" Target="/ppt/slideLayouts/slideLayout1.xml" Id="R7809f15dc3304cca" /><Relationship Type="http://schemas.openxmlformats.org/officeDocument/2006/relationships/slideLayout" Target="/ppt/slideLayouts/slideLayout2.xml" Id="R27ab60d8e6244ca8" /><Relationship Type="http://schemas.openxmlformats.org/officeDocument/2006/relationships/slideLayout" Target="/ppt/slideLayouts/slideLayout3.xml" Id="Ra50beddca5914acd" /><Relationship Type="http://schemas.openxmlformats.org/officeDocument/2006/relationships/slideLayout" Target="/ppt/slideLayouts/slideLayout4.xml" Id="R8338055439914965" /><Relationship Type="http://schemas.openxmlformats.org/officeDocument/2006/relationships/slideLayout" Target="/ppt/slideLayouts/slideLayout5.xml" Id="Rf1a63f5c75e34cfc" /><Relationship Type="http://schemas.openxmlformats.org/officeDocument/2006/relationships/slideLayout" Target="/ppt/slideLayouts/slideLayout6.xml" Id="R60d4f4a1690540d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809f15dc3304cca"/>
    <p:sldLayoutId xmlns:r="http://schemas.openxmlformats.org/officeDocument/2006/relationships" id="2147483650" r:id="R27ab60d8e6244ca8"/>
    <p:sldLayoutId xmlns:r="http://schemas.openxmlformats.org/officeDocument/2006/relationships" id="2147483651" r:id="Ra50beddca5914acd"/>
    <p:sldLayoutId xmlns:r="http://schemas.openxmlformats.org/officeDocument/2006/relationships" id="2147483652" r:id="R8338055439914965"/>
    <p:sldLayoutId xmlns:r="http://schemas.openxmlformats.org/officeDocument/2006/relationships" id="2147483653" r:id="Rf1a63f5c75e34cfc"/>
    <p:sldLayoutId xmlns:r="http://schemas.openxmlformats.org/officeDocument/2006/relationships" id="2147483654" r:id="R60d4f4a1690540d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9a0a7183bb74d4c" /><Relationship Type="http://schemas.openxmlformats.org/officeDocument/2006/relationships/image" Target="/ppt/media/image.png" Id="Rc7f5b11477f6491c" /><Relationship Type="http://schemas.openxmlformats.org/officeDocument/2006/relationships/notesSlide" Target="/ppt/notesSlides/notesSlide1.xml" Id="Reb3fc2b224bb442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537ccc299574723" /><Relationship Type="http://schemas.openxmlformats.org/officeDocument/2006/relationships/image" Target="/ppt/media/image2.png" Id="R0592069539b84320" /><Relationship Type="http://schemas.openxmlformats.org/officeDocument/2006/relationships/notesSlide" Target="/ppt/notesSlides/notesSlide2.xml" Id="Rdec8383aa61f443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d5f2958bfaf43fa" /><Relationship Type="http://schemas.openxmlformats.org/officeDocument/2006/relationships/image" Target="/ppt/media/image3.png" Id="R71383ff8495244dd" /><Relationship Type="http://schemas.openxmlformats.org/officeDocument/2006/relationships/notesSlide" Target="/ppt/notesSlides/notesSlide3.xml" Id="R07a444754905444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AE2355-9C3D-417C-9985-920D01E7A0E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f5b11477f6491c"/>
          <a:stretch xmlns:a="http://schemas.openxmlformats.org/drawingml/2006/main"/>
        </p:blipFill>
        <p:spPr>
          <a:xfrm xmlns:a="http://schemas.openxmlformats.org/drawingml/2006/main">
            <a:off x="609600" y="243246"/>
            <a:ext cx="2476500" cy="713658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C4B658-F422-4A6D-8992-E925F0259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33375"/>
            <a:ext cx="800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1">
                <a:solidFill>
                  <a:srgbClr val="18295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18295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82956"/>
                </a:solidFill>
                <a:latin typeface="Helvetica Neue"/>
                <a:ea typeface="Helvetica Neue"/>
                <a:cs typeface="Helvetica Neue"/>
              </a:rPr>
              <a:t>Especialización en Contabilidad Práctica para la Gestión de MYPES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719AEC-CECB-4481-A403-1CE344744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5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rPr>
              <a:t>MÓDULO 1 · EMISIÓN Y GESTIÓN DE COMPROBANTES ELECTRÓNICOS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76DCD7-2BA1-4841-B71F-402943E94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700" b="1">
                <a:solidFill>
                  <a:srgbClr val="18295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8295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82956"/>
                </a:solidFill>
                <a:latin typeface="Helvetica Neue"/>
                <a:ea typeface="Helvetica Neue"/>
                <a:cs typeface="Helvetica Neue"/>
              </a:rPr>
              <a:t>Identificación y soporte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09C238-705D-4F0D-8F94-6E3806042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5143500" cy="3371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20374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2037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20374D"/>
                </a:solidFill>
                <a:latin typeface="Helvetica Neue"/>
                <a:ea typeface="Helvetica Neue"/>
                <a:cs typeface="Helvetica Neue"/>
              </a:rPr>
              <a:t>EMISOR Y DOCUMENTO</a:t>
            </a:r>
          </a:p>
          <a:p xmlns:a="http://schemas.openxmlformats.org/drawingml/2006/main">
            <a:pPr>
              <a:defRPr sz="1650" b="0">
                <a:solidFill>
                  <a:srgbClr val="2037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20374D"/>
                </a:solidFill>
                <a:latin typeface="Helvetica Neue"/>
                <a:ea typeface="Helvetica Neue"/>
                <a:cs typeface="Helvetica Neue"/>
              </a:rPr>
              <a:t>RUC, denominación del emisor, tipo de comprobante, serie, número y fecha de emisión.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2037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20374D"/>
                </a:solidFill>
                <a:latin typeface="Helvetica Neue"/>
                <a:ea typeface="Helvetica Neue"/>
                <a:cs typeface="Helvetica Neue"/>
              </a:rPr>
              <a:t>ADQUIRENTE</a:t>
            </a:r>
          </a:p>
          <a:p xmlns:a="http://schemas.openxmlformats.org/drawingml/2006/main">
            <a:pPr>
              <a:defRPr sz="1650" b="0">
                <a:solidFill>
                  <a:srgbClr val="2037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20374D"/>
                </a:solidFill>
                <a:latin typeface="Helvetica Neue"/>
                <a:ea typeface="Helvetica Neue"/>
                <a:cs typeface="Helvetica Neue"/>
              </a:rPr>
              <a:t>Datos de identificación que correspondan al tipo de documento y operación.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FE997A-1115-4993-90DF-5520FA131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362200"/>
            <a:ext cx="4953000" cy="3371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20374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2037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20374D"/>
                </a:solidFill>
                <a:latin typeface="Helvetica Neue"/>
                <a:ea typeface="Helvetica Neue"/>
                <a:cs typeface="Helvetica Neue"/>
              </a:rPr>
              <a:t>Antes de emitir</a:t>
            </a:r>
          </a:p>
          <a:p xmlns:a="http://schemas.openxmlformats.org/drawingml/2006/main">
            <a:pPr>
              <a:defRPr sz="1650" b="0">
                <a:solidFill>
                  <a:srgbClr val="2037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20374D"/>
                </a:solidFill>
                <a:latin typeface="Helvetica Neue"/>
                <a:ea typeface="Helvetica Neue"/>
                <a:cs typeface="Helvetica Neue"/>
              </a:rPr>
              <a:t>Contrastar los datos con el pedido o contrato.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2037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20374D"/>
                </a:solidFill>
                <a:latin typeface="Helvetica Neue"/>
                <a:ea typeface="Helvetica Neue"/>
                <a:cs typeface="Helvetica Neue"/>
              </a:rPr>
              <a:t>Confirmar que el receptor es el correcto.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2037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20374D"/>
                </a:solidFill>
                <a:latin typeface="Helvetica Neue"/>
                <a:ea typeface="Helvetica Neue"/>
                <a:cs typeface="Helvetica Neue"/>
              </a:rPr>
              <a:t>Evitar copiar datos de un cliente anterior.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2037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20374D"/>
                </a:solidFill>
                <a:latin typeface="Helvetica Neue"/>
                <a:ea typeface="Helvetica Neue"/>
                <a:cs typeface="Helvetica Neue"/>
              </a:rPr>
              <a:t>Esta lista es orientativa: validar los requisitos específicos en SUNAT.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248D4F-8192-4694-9A2A-7D412EDC7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1980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087E8B"/>
                </a:solidFill>
                <a:latin typeface="Helvetica Neue"/>
                <a:ea typeface="Helvetica Neue"/>
                <a:cs typeface="Helvetica Neue"/>
              </a:rPr>
              <a:t>Datos y condiciones que debe contener un comprobante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5C9C9F-E727-4FF6-A405-220E76D1D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5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125" b="0">
                <a:solidFill>
                  <a:srgbClr val="65738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573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57386"/>
                </a:solidFill>
                <a:latin typeface="Helvetica Neue"/>
                <a:ea typeface="Helvetica Neue"/>
                <a:cs typeface="Helvetica Neue"/>
              </a:rPr>
              <a:t>Material didáctico · Casos simulados · Revisión docente requerida     1/3</a:t>
            </a:r>
          </a:p>
        </p:txBody>
      </p:sp>
    </p:spTree>
    <p:extLst>
      <p:ext uri="{BB962C8B-B14F-4D97-AF65-F5344CB8AC3E}">
        <p14:creationId xmlns:p14="http://schemas.microsoft.com/office/powerpoint/2010/main" val="45961269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F0B578-4C78-4494-B35F-98FEBCD5E7F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92069539b84320"/>
          <a:stretch xmlns:a="http://schemas.openxmlformats.org/drawingml/2006/main"/>
        </p:blipFill>
        <p:spPr>
          <a:xfrm xmlns:a="http://schemas.openxmlformats.org/drawingml/2006/main">
            <a:off x="609600" y="243246"/>
            <a:ext cx="2476500" cy="713658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3BF050-7269-416E-BE7E-ECB1C3238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33375"/>
            <a:ext cx="800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1">
                <a:solidFill>
                  <a:srgbClr val="18295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18295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82956"/>
                </a:solidFill>
                <a:latin typeface="Helvetica Neue"/>
                <a:ea typeface="Helvetica Neue"/>
                <a:cs typeface="Helvetica Neue"/>
              </a:rPr>
              <a:t>Especialización en Contabilidad Práctica para la Gestión de MYPES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A6DCF1-55BA-4CD6-8CC0-68A3D6185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5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rPr>
              <a:t>MÓDULO 1 · EMISIÓN Y GESTIÓN DE COMPROBANTES ELECTRÓNICOS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DF2D14-8B7C-4B99-85BF-52064FFC4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700" b="1">
                <a:solidFill>
                  <a:srgbClr val="18295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8295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82956"/>
                </a:solidFill>
                <a:latin typeface="Helvetica Neue"/>
                <a:ea typeface="Helvetica Neue"/>
                <a:cs typeface="Helvetica Neue"/>
              </a:rPr>
              <a:t>Detalle, importes y condición de pago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C9B0D7-B40B-49E5-8B5E-5197F6A8A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5143500" cy="3371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20374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2037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20374D"/>
                </a:solidFill>
                <a:latin typeface="Helvetica Neue"/>
                <a:ea typeface="Helvetica Neue"/>
                <a:cs typeface="Helvetica Neue"/>
              </a:rPr>
              <a:t>DETALLE DE LA OPERACIÓN</a:t>
            </a:r>
          </a:p>
          <a:p xmlns:a="http://schemas.openxmlformats.org/drawingml/2006/main">
            <a:pPr>
              <a:defRPr sz="1650" b="0">
                <a:solidFill>
                  <a:srgbClr val="2037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20374D"/>
                </a:solidFill>
                <a:latin typeface="Helvetica Neue"/>
                <a:ea typeface="Helvetica Neue"/>
                <a:cs typeface="Helvetica Neue"/>
              </a:rPr>
              <a:t>Descripción clara, cantidad, valor unitario, descuentos y tratamiento tributario.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2037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20374D"/>
                </a:solidFill>
                <a:latin typeface="Helvetica Neue"/>
                <a:ea typeface="Helvetica Neue"/>
                <a:cs typeface="Helvetica Neue"/>
              </a:rPr>
              <a:t>IMPORTES</a:t>
            </a:r>
          </a:p>
          <a:p xmlns:a="http://schemas.openxmlformats.org/drawingml/2006/main">
            <a:pPr>
              <a:defRPr sz="1650" b="0">
                <a:solidFill>
                  <a:srgbClr val="2037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20374D"/>
                </a:solidFill>
                <a:latin typeface="Helvetica Neue"/>
                <a:ea typeface="Helvetica Neue"/>
                <a:cs typeface="Helvetica Neue"/>
              </a:rPr>
              <a:t>Revisar base, tributos y total; no aplicar una tasa sin clasificar la operación.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73365B-77BB-45EF-9262-81D30E1B7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362200"/>
            <a:ext cx="4953000" cy="3371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20374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2037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20374D"/>
                </a:solidFill>
                <a:latin typeface="Helvetica Neue"/>
                <a:ea typeface="Helvetica Neue"/>
                <a:cs typeface="Helvetica Neue"/>
              </a:rPr>
              <a:t>Ejemplo simulado</a:t>
            </a:r>
          </a:p>
          <a:p xmlns:a="http://schemas.openxmlformats.org/drawingml/2006/main">
            <a:pPr>
              <a:defRPr sz="1650" b="0">
                <a:solidFill>
                  <a:srgbClr val="2037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20374D"/>
                </a:solidFill>
                <a:latin typeface="Helvetica Neue"/>
                <a:ea typeface="Helvetica Neue"/>
                <a:cs typeface="Helvetica Neue"/>
              </a:rPr>
              <a:t>5 unidades × S/ 100 = S/ 500.</a:t>
            </a:r>
          </a:p>
          <a:p xmlns:a="http://schemas.openxmlformats.org/drawingml/2006/main">
            <a:pPr>
              <a:defRPr sz="1650" b="0">
                <a:solidFill>
                  <a:srgbClr val="2037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20374D"/>
                </a:solidFill>
                <a:latin typeface="Helvetica Neue"/>
                <a:ea typeface="Helvetica Neue"/>
                <a:cs typeface="Helvetica Neue"/>
              </a:rPr>
              <a:t>IGV general: S/ 90.</a:t>
            </a:r>
          </a:p>
          <a:p xmlns:a="http://schemas.openxmlformats.org/drawingml/2006/main">
            <a:pPr>
              <a:defRPr sz="1650" b="0">
                <a:solidFill>
                  <a:srgbClr val="2037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20374D"/>
                </a:solidFill>
                <a:latin typeface="Helvetica Neue"/>
                <a:ea typeface="Helvetica Neue"/>
                <a:cs typeface="Helvetica Neue"/>
              </a:rPr>
              <a:t>Total: S/ 590.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2037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20374D"/>
                </a:solidFill>
                <a:latin typeface="Helvetica Neue"/>
                <a:ea typeface="Helvetica Neue"/>
                <a:cs typeface="Helvetica Neue"/>
              </a:rPr>
              <a:t>Si la factura es al crédito, revisar monto pendiente y fechas e importes de las cuotas conforme al SEE.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64A4BF-F426-44E7-B4F3-6A6BC972C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1980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087E8B"/>
                </a:solidFill>
                <a:latin typeface="Helvetica Neue"/>
                <a:ea typeface="Helvetica Neue"/>
                <a:cs typeface="Helvetica Neue"/>
              </a:rPr>
              <a:t>Datos y condiciones que debe contener un comprobante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E3390D-10E8-4BB0-80CE-EFCFC67F4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5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125" b="0">
                <a:solidFill>
                  <a:srgbClr val="65738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573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57386"/>
                </a:solidFill>
                <a:latin typeface="Helvetica Neue"/>
                <a:ea typeface="Helvetica Neue"/>
                <a:cs typeface="Helvetica Neue"/>
              </a:rPr>
              <a:t>Material didáctico · Casos simulados · Revisión docente requerida     2/3</a:t>
            </a:r>
          </a:p>
        </p:txBody>
      </p:sp>
    </p:spTree>
    <p:extLst>
      <p:ext uri="{BB962C8B-B14F-4D97-AF65-F5344CB8AC3E}">
        <p14:creationId xmlns:p14="http://schemas.microsoft.com/office/powerpoint/2010/main" val="197647373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6C27FD-7C18-43AB-8A9E-23474ACA15E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383ff8495244dd"/>
          <a:stretch xmlns:a="http://schemas.openxmlformats.org/drawingml/2006/main"/>
        </p:blipFill>
        <p:spPr>
          <a:xfrm xmlns:a="http://schemas.openxmlformats.org/drawingml/2006/main">
            <a:off x="609600" y="243246"/>
            <a:ext cx="2476500" cy="713658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37C7F1-7077-4BA3-BD31-57F0C12EE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33375"/>
            <a:ext cx="800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1">
                <a:solidFill>
                  <a:srgbClr val="18295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18295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82956"/>
                </a:solidFill>
                <a:latin typeface="Helvetica Neue"/>
                <a:ea typeface="Helvetica Neue"/>
                <a:cs typeface="Helvetica Neue"/>
              </a:rPr>
              <a:t>Especialización en Contabilidad Práctica para la Gestión de MYPES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6FF326-0C83-463E-BE46-3DF22E7F8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5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rPr>
              <a:t>MÓDULO 1 · EMISIÓN Y GESTIÓN DE COMPROBANTES ELECTRÓNICOS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DD3468-CF0E-4C44-A6E6-1C66342AE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700" b="1">
                <a:solidFill>
                  <a:srgbClr val="18295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8295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82956"/>
                </a:solidFill>
                <a:latin typeface="Helvetica Neue"/>
                <a:ea typeface="Helvetica Neue"/>
                <a:cs typeface="Helvetica Neue"/>
              </a:rPr>
              <a:t>Validación previa: cuatro controles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D8A46F-2C1B-4A72-817C-A3866634F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5143500" cy="3371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20374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2037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20374D"/>
                </a:solidFill>
                <a:latin typeface="Helvetica Neue"/>
                <a:ea typeface="Helvetica Neue"/>
                <a:cs typeface="Helvetica Neue"/>
              </a:rPr>
              <a:t>IDENTIDAD</a:t>
            </a:r>
          </a:p>
          <a:p xmlns:a="http://schemas.openxmlformats.org/drawingml/2006/main">
            <a:pPr>
              <a:defRPr sz="1650" b="0">
                <a:solidFill>
                  <a:srgbClr val="2037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20374D"/>
                </a:solidFill>
                <a:latin typeface="Helvetica Neue"/>
                <a:ea typeface="Helvetica Neue"/>
                <a:cs typeface="Helvetica Neue"/>
              </a:rPr>
              <a:t>¿El receptor coincide con el soporte de la venta?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2037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20374D"/>
                </a:solidFill>
                <a:latin typeface="Helvetica Neue"/>
                <a:ea typeface="Helvetica Neue"/>
                <a:cs typeface="Helvetica Neue"/>
              </a:rPr>
              <a:t>DETALLE</a:t>
            </a:r>
          </a:p>
          <a:p xmlns:a="http://schemas.openxmlformats.org/drawingml/2006/main">
            <a:pPr>
              <a:defRPr sz="1650" b="0">
                <a:solidFill>
                  <a:srgbClr val="2037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20374D"/>
                </a:solidFill>
                <a:latin typeface="Helvetica Neue"/>
                <a:ea typeface="Helvetica Neue"/>
                <a:cs typeface="Helvetica Neue"/>
              </a:rPr>
              <a:t>¿La descripción permite reconocer lo entregado?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2037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20374D"/>
                </a:solidFill>
                <a:latin typeface="Helvetica Neue"/>
                <a:ea typeface="Helvetica Neue"/>
                <a:cs typeface="Helvetica Neue"/>
              </a:rPr>
              <a:t>CÁLCULO</a:t>
            </a:r>
          </a:p>
          <a:p xmlns:a="http://schemas.openxmlformats.org/drawingml/2006/main">
            <a:pPr>
              <a:defRPr sz="1650" b="0">
                <a:solidFill>
                  <a:srgbClr val="2037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20374D"/>
                </a:solidFill>
                <a:latin typeface="Helvetica Neue"/>
                <a:ea typeface="Helvetica Neue"/>
                <a:cs typeface="Helvetica Neue"/>
              </a:rPr>
              <a:t>¿Los subtotales y el total son coherentes?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B01424-2586-4528-AA5F-A0D234DA6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362200"/>
            <a:ext cx="4953000" cy="3371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20374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2037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20374D"/>
                </a:solidFill>
                <a:latin typeface="Helvetica Neue"/>
                <a:ea typeface="Helvetica Neue"/>
                <a:cs typeface="Helvetica Neue"/>
              </a:rPr>
              <a:t>PAGO Y EVIDENCIA</a:t>
            </a:r>
          </a:p>
          <a:p xmlns:a="http://schemas.openxmlformats.org/drawingml/2006/main">
            <a:pPr>
              <a:defRPr sz="1650" b="0">
                <a:solidFill>
                  <a:srgbClr val="2037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20374D"/>
                </a:solidFill>
                <a:latin typeface="Helvetica Neue"/>
                <a:ea typeface="Helvetica Neue"/>
                <a:cs typeface="Helvetica Neue"/>
              </a:rPr>
              <a:t>¿La condición al contado o al crédito refleja el acuerdo?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2037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20374D"/>
                </a:solidFill>
                <a:latin typeface="Helvetica Neue"/>
                <a:ea typeface="Helvetica Neue"/>
                <a:cs typeface="Helvetica Neue"/>
              </a:rPr>
              <a:t>Conservar la evidencia de revisión y la respuesta del sistema.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2037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20374D"/>
                </a:solidFill>
                <a:latin typeface="Helvetica Neue"/>
                <a:ea typeface="Helvetica Neue"/>
                <a:cs typeface="Helvetica Neue"/>
              </a:rPr>
              <a:t>Ejemplo: si una venta se paga después de la emisión, revisar la condición al crédito antes de confirmar.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007692-AFA1-4DD1-88E9-BF38C0A3C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1980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087E8B"/>
                </a:solidFill>
                <a:latin typeface="Helvetica Neue"/>
                <a:ea typeface="Helvetica Neue"/>
                <a:cs typeface="Helvetica Neue"/>
              </a:rPr>
              <a:t>Datos y condiciones que debe contener un comprobante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45BD40-A665-4A0F-848D-8ADD03DB1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5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125" b="0">
                <a:solidFill>
                  <a:srgbClr val="65738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573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57386"/>
                </a:solidFill>
                <a:latin typeface="Helvetica Neue"/>
                <a:ea typeface="Helvetica Neue"/>
                <a:cs typeface="Helvetica Neue"/>
              </a:rPr>
              <a:t>Material didáctico · Casos simulados · Revisión docente requerida     3/3</a:t>
            </a:r>
          </a:p>
        </p:txBody>
      </p:sp>
    </p:spTree>
    <p:extLst>
      <p:ext uri="{BB962C8B-B14F-4D97-AF65-F5344CB8AC3E}">
        <p14:creationId xmlns:p14="http://schemas.microsoft.com/office/powerpoint/2010/main" val="15956321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2026-10-05T17:37:58.7270000Z</dcterms:created>
  <dcterms:modified xsi:type="dcterms:W3CDTF">2026-10-05T17:37:58.7270000Z</dcterms:modified>
</coreProperties>
</file>