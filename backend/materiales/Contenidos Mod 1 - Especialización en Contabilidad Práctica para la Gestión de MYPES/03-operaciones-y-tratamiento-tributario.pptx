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e037938e14084" /><Relationship Type="http://schemas.openxmlformats.org/officeDocument/2006/relationships/extended-properties" Target="/docProps/app.xml" Id="R7a3bbc12aad04bd7" /><Relationship Type="http://schemas.openxmlformats.org/officeDocument/2006/relationships/officeDocument" Target="/ppt/presentation.xml" Id="Rcdff7eb715d541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f8033263994045"/>
  </p:sldMasterIdLst>
  <p:notesMasterIdLst>
    <p:notesMasterId xmlns:r="http://schemas.openxmlformats.org/officeDocument/2006/relationships" r:id="Rb52a99c1331245e3"/>
  </p:notesMasterIdLst>
  <p:sldIdLst>
    <p:sldId xmlns:r="http://schemas.openxmlformats.org/officeDocument/2006/relationships" id="256" r:id="R3fdaf9e287294f7d"/>
    <p:sldId xmlns:r="http://schemas.openxmlformats.org/officeDocument/2006/relationships" id="257" r:id="Rf4304ea02ab04bf3"/>
    <p:sldId xmlns:r="http://schemas.openxmlformats.org/officeDocument/2006/relationships" id="258" r:id="R0e790678dce940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a2e4b9eeca4e92" /><Relationship Type="http://schemas.openxmlformats.org/officeDocument/2006/relationships/slideMaster" Target="/ppt/slideMasters/slideMaster1.xml" Id="R7df8033263994045" /><Relationship Type="http://schemas.openxmlformats.org/officeDocument/2006/relationships/notesMaster" Target="/ppt/notesMasters/notesMaster1.xml" Id="Rb52a99c1331245e3" /><Relationship Type="http://schemas.openxmlformats.org/officeDocument/2006/relationships/presProps" Target="/ppt/presProps.xml" Id="R9bcbe914879d4e66" /><Relationship Type="http://schemas.openxmlformats.org/officeDocument/2006/relationships/tableStyles" Target="/ppt/tableStyles.xml" Id="R5b25b5fb124647ca" /><Relationship Type="http://schemas.openxmlformats.org/officeDocument/2006/relationships/slide" Target="/ppt/slides/slide1.xml" Id="R3fdaf9e287294f7d" /><Relationship Type="http://schemas.openxmlformats.org/officeDocument/2006/relationships/slide" Target="/ppt/slides/slide2.xml" Id="Rf4304ea02ab04bf3" /><Relationship Type="http://schemas.openxmlformats.org/officeDocument/2006/relationships/slide" Target="/ppt/slides/slide3.xml" Id="R0e790678dce9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6ed007b44744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8693df7ef40f4" /><Relationship Type="http://schemas.openxmlformats.org/officeDocument/2006/relationships/notesMaster" Target="/ppt/notesMasters/notesMaster1.xml" Id="R5f5111af83b147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0f3d25c1f40b8" /><Relationship Type="http://schemas.openxmlformats.org/officeDocument/2006/relationships/notesMaster" Target="/ppt/notesMasters/notesMaster1.xml" Id="R7ff050ef99f841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6878b25384e81" /><Relationship Type="http://schemas.openxmlformats.org/officeDocument/2006/relationships/notesMaster" Target="/ppt/notesMasters/notesMaster1.xml" Id="R2cd24a8111364e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176a7fed747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6a48a103e45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22791c4f94b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1ff73936f4b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af63f9cc148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bcb7b8d6542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98306B-629F-474E-B162-0C5ED13145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3CF2CC-4D7E-44CA-9703-A41FC3543B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CA526F-9482-4F3D-824E-CA26490C1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118665-671F-4BEC-93D7-6738AABBE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D6BCB7-27FB-4D4E-8CC2-2685DFA097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EAE2DA-879A-4E2C-9903-CBD6F9846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CE81D-55B1-4FF1-9C9C-6CD8D7A267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71B083-793E-4F2A-B496-A269C00271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A2D098-2C1F-4185-9DF2-08DF098D30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027CBC-965A-4336-A510-C59C11F9DE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a775ba36ff44ca" /><Relationship Type="http://schemas.openxmlformats.org/officeDocument/2006/relationships/slideLayout" Target="/ppt/slideLayouts/slideLayout1.xml" Id="R4d206d4c77b847e9" /><Relationship Type="http://schemas.openxmlformats.org/officeDocument/2006/relationships/slideLayout" Target="/ppt/slideLayouts/slideLayout2.xml" Id="R42c9ebb8521442ac" /><Relationship Type="http://schemas.openxmlformats.org/officeDocument/2006/relationships/slideLayout" Target="/ppt/slideLayouts/slideLayout3.xml" Id="R177bf6747ca44e1a" /><Relationship Type="http://schemas.openxmlformats.org/officeDocument/2006/relationships/slideLayout" Target="/ppt/slideLayouts/slideLayout4.xml" Id="Rab1c3b4cbd884298" /><Relationship Type="http://schemas.openxmlformats.org/officeDocument/2006/relationships/slideLayout" Target="/ppt/slideLayouts/slideLayout5.xml" Id="R83d25c1e753b4e7f" /><Relationship Type="http://schemas.openxmlformats.org/officeDocument/2006/relationships/slideLayout" Target="/ppt/slideLayouts/slideLayout6.xml" Id="R30a46c76b8ab45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06d4c77b847e9"/>
    <p:sldLayoutId xmlns:r="http://schemas.openxmlformats.org/officeDocument/2006/relationships" id="2147483650" r:id="R42c9ebb8521442ac"/>
    <p:sldLayoutId xmlns:r="http://schemas.openxmlformats.org/officeDocument/2006/relationships" id="2147483651" r:id="R177bf6747ca44e1a"/>
    <p:sldLayoutId xmlns:r="http://schemas.openxmlformats.org/officeDocument/2006/relationships" id="2147483652" r:id="Rab1c3b4cbd884298"/>
    <p:sldLayoutId xmlns:r="http://schemas.openxmlformats.org/officeDocument/2006/relationships" id="2147483653" r:id="R83d25c1e753b4e7f"/>
    <p:sldLayoutId xmlns:r="http://schemas.openxmlformats.org/officeDocument/2006/relationships" id="2147483654" r:id="R30a46c76b8ab45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4e88de143b4483" /><Relationship Type="http://schemas.openxmlformats.org/officeDocument/2006/relationships/image" Target="/ppt/media/image.png" Id="R0caf197708384710" /><Relationship Type="http://schemas.openxmlformats.org/officeDocument/2006/relationships/notesSlide" Target="/ppt/notesSlides/notesSlide1.xml" Id="R599cfab38e0a44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d2164009e4b30" /><Relationship Type="http://schemas.openxmlformats.org/officeDocument/2006/relationships/image" Target="/ppt/media/image2.png" Id="R47aca593098e420d" /><Relationship Type="http://schemas.openxmlformats.org/officeDocument/2006/relationships/notesSlide" Target="/ppt/notesSlides/notesSlide2.xml" Id="R29fd965e276946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239057d2a4133" /><Relationship Type="http://schemas.openxmlformats.org/officeDocument/2006/relationships/image" Target="/ppt/media/image3.png" Id="R6fbd9a63c15f4624" /><Relationship Type="http://schemas.openxmlformats.org/officeDocument/2006/relationships/notesSlide" Target="/ppt/notesSlides/notesSlide3.xml" Id="R4e6d0040ba2a4d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C0AA0-83E2-413E-A245-90237FA57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f197708384710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3C401-9BD7-4717-8399-CC82B1B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49D97-2FFF-4FA8-A059-8D95AB1C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F4F34-1F53-4925-895B-AAE235EF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Tres situaciones diferentes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1AC5D-4244-43DA-95D9-16F15889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GRAVADA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La operación está comprendida en el impuesto y no tiene una exclusión aplicable.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EXONERADA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Existe una disposición que dispensa del impuesto a una operación comprendida en su ámbito.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241AE-C54B-4E9D-88D4-FB237505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INAFECTA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La operación está fuera del ámbito del impuesto o tiene una inafectación expresa.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No usar “sin IGV” como única justificación.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Registrar la categoría correcta y el fundamento aplicable.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18A8A-7178-4015-B6BF-3B869641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Operaciones gravadas, exoneradas y no gravadas: criterios generales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F76BA-6E86-458E-A8D2-B7E3CEA9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1/3</a:t>
            </a:r>
          </a:p>
        </p:txBody>
      </p:sp>
    </p:spTree>
    <p:extLst>
      <p:ext uri="{BB962C8B-B14F-4D97-AF65-F5344CB8AC3E}">
        <p14:creationId xmlns:p14="http://schemas.microsoft.com/office/powerpoint/2010/main" val="754361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6C8F5-CD25-4660-B14B-15305CC59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a593098e420d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19E10-D44E-41DB-A3C5-D1D59634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6919E-FD72-4C4B-8836-780E4180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307C4-2600-4A20-AF6F-7B5A7423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Cómo cambia el importe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980F8-6388-44AB-8E2E-D0D072F4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SUPUESTO: BASE S/ 1 000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Gravada a tasa general: tributo S/ 180; total S/ 1 180.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Exonerada: sin IGV por la exoneración aplicable.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Inafecta: sin IGV por su clasificación legal.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629D1-97C0-405A-93F9-BA935957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Precauciones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La tasa general total es 18 %, pero pueden existir reglas especiales.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Los ejemplos no prueban que una venta real esté exonerada o inafecta.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La categoría se determina antes del cálculo.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E8AD7-5943-44C2-84BC-704870A8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Operaciones gravadas, exoneradas y no gravadas: criterios generales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5B748-DACB-479A-811A-C73B9653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2/3</a:t>
            </a:r>
          </a:p>
        </p:txBody>
      </p:sp>
    </p:spTree>
    <p:extLst>
      <p:ext uri="{BB962C8B-B14F-4D97-AF65-F5344CB8AC3E}">
        <p14:creationId xmlns:p14="http://schemas.microsoft.com/office/powerpoint/2010/main" val="693798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9A102-D3C4-4A41-BB1B-13F65B291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d9a63c15f4624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F60CB-9EA6-403D-8028-CB1498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3F3D4-FDD5-4422-B4F1-EB3A5BAF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C5125-919C-440B-8EA7-9EF9314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Decidir con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6E7B0-21AD-4301-8004-B22E4D12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1. DESCRIBIR LA OPERACIÓN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Qué se vende, dónde y bajo qué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2. REVISAR SU TRATAMIENTO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Contrastar la norma y las condiciones aplicables.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3. CALCULAR Y DOCUMENTAR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Registrar categoría, base e importe.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B9C8E-B95D-4C3B-9166-61F8CE2C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Caso simulado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Una operación ya verificada como gravada a tasa general tiene base S/ 2 000.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IGV: S/ 360. Total: S/ 2 360.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Si existe una excepción, revisar su alcance y vigencia antes de emitir.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DB430-1685-42FC-B163-F8E1481B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Operaciones gravadas, exoneradas y no gravadas: criterios generales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27638-3DD5-48A1-A313-10CAABA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3/3</a:t>
            </a:r>
          </a:p>
        </p:txBody>
      </p:sp>
    </p:spTree>
    <p:extLst>
      <p:ext uri="{BB962C8B-B14F-4D97-AF65-F5344CB8AC3E}">
        <p14:creationId xmlns:p14="http://schemas.microsoft.com/office/powerpoint/2010/main" val="175947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2026-10-05T17:38:04.7810000Z</dcterms:created>
  <dcterms:modified xsi:type="dcterms:W3CDTF">2026-10-05T17:38:04.7810000Z</dcterms:modified>
</coreProperties>
</file>