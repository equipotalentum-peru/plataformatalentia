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8" r:id="rId9"/>
    <p:sldId id="279" r:id="rId10"/>
    <p:sldId id="280" r:id="rId11"/>
    <p:sldId id="281" r:id="rId12"/>
    <p:sldId id="282" r:id="rId13"/>
    <p:sldId id="277" r:id="rId14"/>
    <p:sldId id="274" r:id="rId15"/>
    <p:sldId id="276" r:id="rId16"/>
    <p:sldId id="283" r:id="rId17"/>
    <p:sldId id="284" r:id="rId18"/>
    <p:sldId id="285" r:id="rId19"/>
    <p:sldId id="286" r:id="rId20"/>
    <p:sldId id="287" r:id="rId21"/>
    <p:sldId id="288" r:id="rId22"/>
    <p:sldId id="263" r:id="rId23"/>
    <p:sldId id="264" r:id="rId24"/>
    <p:sldId id="270" r:id="rId25"/>
    <p:sldId id="271" r:id="rId26"/>
    <p:sldId id="272" r:id="rId27"/>
    <p:sldId id="265" r:id="rId28"/>
    <p:sldId id="266" r:id="rId29"/>
    <p:sldId id="267" r:id="rId30"/>
    <p:sldId id="268" r:id="rId31"/>
    <p:sldId id="269" r:id="rId3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5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C0E10"/>
    <a:srgbClr val="B4181C"/>
    <a:srgbClr val="F0586D"/>
    <a:srgbClr val="F58B9A"/>
    <a:srgbClr val="006358"/>
    <a:srgbClr val="009A88"/>
    <a:srgbClr val="4156A6"/>
    <a:srgbClr val="909FD4"/>
    <a:srgbClr val="FFFFFF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000" autoAdjust="0"/>
    <p:restoredTop sz="94660"/>
  </p:normalViewPr>
  <p:slideViewPr>
    <p:cSldViewPr snapToGrid="0" showGuides="1">
      <p:cViewPr>
        <p:scale>
          <a:sx n="45" d="100"/>
          <a:sy n="45" d="100"/>
        </p:scale>
        <p:origin x="-102" y="438"/>
      </p:cViewPr>
      <p:guideLst>
        <p:guide orient="horz" pos="2160"/>
        <p:guide pos="3840"/>
        <p:guide pos="55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973DA1F-5610-4455-95F7-958AF20EBC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0628" y="-57593"/>
            <a:ext cx="9257504" cy="6973185"/>
          </a:xfrm>
          <a:prstGeom prst="rect">
            <a:avLst/>
          </a:prstGeom>
        </p:spPr>
      </p:pic>
      <p:grpSp>
        <p:nvGrpSpPr>
          <p:cNvPr id="18" name="Grupo 17">
            <a:extLst>
              <a:ext uri="{FF2B5EF4-FFF2-40B4-BE49-F238E27FC236}">
                <a16:creationId xmlns:a16="http://schemas.microsoft.com/office/drawing/2014/main" id="{E2760872-0584-24E8-6C5F-A4192C69084A}"/>
              </a:ext>
            </a:extLst>
          </p:cNvPr>
          <p:cNvGrpSpPr/>
          <p:nvPr userDrawn="1"/>
        </p:nvGrpSpPr>
        <p:grpSpPr>
          <a:xfrm>
            <a:off x="-71021" y="-57592"/>
            <a:ext cx="12306309" cy="6973185"/>
            <a:chOff x="-71021" y="-57592"/>
            <a:chExt cx="12306309" cy="6973185"/>
          </a:xfrm>
          <a:solidFill>
            <a:srgbClr val="6C0E10"/>
          </a:solidFill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3C50B447-F88C-5209-25D9-177EF1399B71}"/>
                </a:ext>
              </a:extLst>
            </p:cNvPr>
            <p:cNvSpPr/>
            <p:nvPr userDrawn="1"/>
          </p:nvSpPr>
          <p:spPr>
            <a:xfrm>
              <a:off x="-71021" y="-57592"/>
              <a:ext cx="4685884" cy="697318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grpSp>
          <p:nvGrpSpPr>
            <p:cNvPr id="17" name="Grupo 16">
              <a:extLst>
                <a:ext uri="{FF2B5EF4-FFF2-40B4-BE49-F238E27FC236}">
                  <a16:creationId xmlns:a16="http://schemas.microsoft.com/office/drawing/2014/main" id="{17EF3EE9-2C19-C48C-CA39-61EACA844BE2}"/>
                </a:ext>
              </a:extLst>
            </p:cNvPr>
            <p:cNvGrpSpPr/>
            <p:nvPr userDrawn="1"/>
          </p:nvGrpSpPr>
          <p:grpSpPr>
            <a:xfrm>
              <a:off x="11556400" y="-57592"/>
              <a:ext cx="678888" cy="6973185"/>
              <a:chOff x="11556400" y="-3"/>
              <a:chExt cx="678888" cy="6973185"/>
            </a:xfrm>
            <a:grpFill/>
          </p:grpSpPr>
          <p:sp>
            <p:nvSpPr>
              <p:cNvPr id="12" name="Rectángulo 11">
                <a:extLst>
                  <a:ext uri="{FF2B5EF4-FFF2-40B4-BE49-F238E27FC236}">
                    <a16:creationId xmlns:a16="http://schemas.microsoft.com/office/drawing/2014/main" id="{75357E8B-B099-51B9-D18D-BAA93B46A25F}"/>
                  </a:ext>
                </a:extLst>
              </p:cNvPr>
              <p:cNvSpPr/>
              <p:nvPr userDrawn="1"/>
            </p:nvSpPr>
            <p:spPr>
              <a:xfrm>
                <a:off x="11556400" y="-3"/>
                <a:ext cx="86576" cy="697318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3A6AD8D2-94C0-73F1-D62E-CCE0581FFFF3}"/>
                  </a:ext>
                </a:extLst>
              </p:cNvPr>
              <p:cNvSpPr/>
              <p:nvPr userDrawn="1"/>
            </p:nvSpPr>
            <p:spPr>
              <a:xfrm>
                <a:off x="11698424" y="-3"/>
                <a:ext cx="86576" cy="697318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C998CEE4-FB88-4A43-79F4-7F2CFAC01696}"/>
                  </a:ext>
                </a:extLst>
              </p:cNvPr>
              <p:cNvSpPr/>
              <p:nvPr userDrawn="1"/>
            </p:nvSpPr>
            <p:spPr>
              <a:xfrm>
                <a:off x="11828288" y="-3"/>
                <a:ext cx="86576" cy="697318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697EA2D1-5D90-48EC-3DD7-69DAC825A689}"/>
                  </a:ext>
                </a:extLst>
              </p:cNvPr>
              <p:cNvSpPr/>
              <p:nvPr userDrawn="1"/>
            </p:nvSpPr>
            <p:spPr>
              <a:xfrm>
                <a:off x="11977331" y="-3"/>
                <a:ext cx="86576" cy="697318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id="{7CB7EB6E-2F09-D346-6FB7-C86780B2ADBB}"/>
                  </a:ext>
                </a:extLst>
              </p:cNvPr>
              <p:cNvSpPr/>
              <p:nvPr userDrawn="1"/>
            </p:nvSpPr>
            <p:spPr>
              <a:xfrm>
                <a:off x="12100176" y="-3"/>
                <a:ext cx="135112" cy="697318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3595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B4281B43-CCCD-24DB-6926-6DBE79E78D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248"/>
          <a:stretch/>
        </p:blipFill>
        <p:spPr>
          <a:xfrm>
            <a:off x="20095" y="-140677"/>
            <a:ext cx="12192000" cy="3720932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1FD7C5CF-DB38-CD89-C84D-7D46B6EEDF08}"/>
              </a:ext>
            </a:extLst>
          </p:cNvPr>
          <p:cNvSpPr/>
          <p:nvPr userDrawn="1"/>
        </p:nvSpPr>
        <p:spPr>
          <a:xfrm>
            <a:off x="301451" y="3429000"/>
            <a:ext cx="11910644" cy="3486593"/>
          </a:xfrm>
          <a:prstGeom prst="rect">
            <a:avLst/>
          </a:prstGeom>
          <a:solidFill>
            <a:srgbClr val="6C0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  <a:p>
            <a:pPr algn="ctr"/>
            <a:endParaRPr lang="es-PE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7F7FA98-38BF-B7CB-3CB7-83C408C358F3}"/>
              </a:ext>
            </a:extLst>
          </p:cNvPr>
          <p:cNvSpPr/>
          <p:nvPr userDrawn="1"/>
        </p:nvSpPr>
        <p:spPr>
          <a:xfrm>
            <a:off x="0" y="-140679"/>
            <a:ext cx="301451" cy="3569680"/>
          </a:xfrm>
          <a:prstGeom prst="rect">
            <a:avLst/>
          </a:prstGeom>
          <a:solidFill>
            <a:srgbClr val="6C0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AFD63A2-43AB-A7C5-CEE8-DEED2BA91FE4}"/>
              </a:ext>
            </a:extLst>
          </p:cNvPr>
          <p:cNvSpPr/>
          <p:nvPr userDrawn="1"/>
        </p:nvSpPr>
        <p:spPr>
          <a:xfrm>
            <a:off x="-1" y="3428998"/>
            <a:ext cx="301451" cy="3486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32720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6C4C530B-2446-18A1-9EDF-EAE9500A24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03" r="34413"/>
          <a:stretch/>
        </p:blipFill>
        <p:spPr>
          <a:xfrm>
            <a:off x="-106326" y="-63967"/>
            <a:ext cx="2596688" cy="6987682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75AC794A-8BA9-122F-12FD-94456B2FD92C}"/>
              </a:ext>
            </a:extLst>
          </p:cNvPr>
          <p:cNvSpPr/>
          <p:nvPr userDrawn="1"/>
        </p:nvSpPr>
        <p:spPr>
          <a:xfrm>
            <a:off x="3446585" y="-63965"/>
            <a:ext cx="8765510" cy="6985931"/>
          </a:xfrm>
          <a:prstGeom prst="rect">
            <a:avLst/>
          </a:prstGeom>
          <a:solidFill>
            <a:srgbClr val="6C0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  <a:p>
            <a:pPr algn="ctr"/>
            <a:endParaRPr lang="es-PE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BEFD0E8-EAE2-343B-E461-9671E60B6338}"/>
              </a:ext>
            </a:extLst>
          </p:cNvPr>
          <p:cNvSpPr/>
          <p:nvPr userDrawn="1"/>
        </p:nvSpPr>
        <p:spPr>
          <a:xfrm>
            <a:off x="2346834" y="-63966"/>
            <a:ext cx="1099751" cy="69859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  <a:p>
            <a:pPr algn="ctr"/>
            <a:endParaRPr lang="es-PE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F1F3EE2-6559-A2C3-0F62-C0F617AC2C0D}"/>
              </a:ext>
            </a:extLst>
          </p:cNvPr>
          <p:cNvSpPr txBox="1"/>
          <p:nvPr userDrawn="1"/>
        </p:nvSpPr>
        <p:spPr>
          <a:xfrm rot="16200000">
            <a:off x="243230" y="2737461"/>
            <a:ext cx="581770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8000" b="1" dirty="0">
                <a:solidFill>
                  <a:srgbClr val="6C0E1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Contenido</a:t>
            </a:r>
          </a:p>
        </p:txBody>
      </p:sp>
    </p:spTree>
    <p:extLst>
      <p:ext uri="{BB962C8B-B14F-4D97-AF65-F5344CB8AC3E}">
        <p14:creationId xmlns:p14="http://schemas.microsoft.com/office/powerpoint/2010/main" val="3813905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36C05C2-2CB9-C315-AC0B-A71124767EF6}"/>
              </a:ext>
            </a:extLst>
          </p:cNvPr>
          <p:cNvSpPr/>
          <p:nvPr userDrawn="1"/>
        </p:nvSpPr>
        <p:spPr>
          <a:xfrm>
            <a:off x="-114299" y="-63965"/>
            <a:ext cx="9753600" cy="6985931"/>
          </a:xfrm>
          <a:prstGeom prst="rect">
            <a:avLst/>
          </a:prstGeom>
          <a:solidFill>
            <a:srgbClr val="6C0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rgbClr val="F0586D"/>
              </a:solidFill>
            </a:endParaRPr>
          </a:p>
          <a:p>
            <a:pPr algn="ctr"/>
            <a:endParaRPr lang="es-PE" dirty="0">
              <a:solidFill>
                <a:srgbClr val="F0586D"/>
              </a:solidFill>
            </a:endParaRP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9D701E33-9700-9FC6-1198-5C35258EB0D2}"/>
              </a:ext>
            </a:extLst>
          </p:cNvPr>
          <p:cNvGrpSpPr/>
          <p:nvPr userDrawn="1"/>
        </p:nvGrpSpPr>
        <p:grpSpPr>
          <a:xfrm>
            <a:off x="3886200" y="1583411"/>
            <a:ext cx="7535825" cy="4199859"/>
            <a:chOff x="3543300" y="1828800"/>
            <a:chExt cx="7535825" cy="4199859"/>
          </a:xfrm>
        </p:grpSpPr>
        <p:sp>
          <p:nvSpPr>
            <p:cNvPr id="7" name="Rectángulo redondeado 6">
              <a:extLst>
                <a:ext uri="{FF2B5EF4-FFF2-40B4-BE49-F238E27FC236}">
                  <a16:creationId xmlns:a16="http://schemas.microsoft.com/office/drawing/2014/main" id="{7E3A5604-10E3-2C1E-BBAC-AE34F4062D2F}"/>
                </a:ext>
              </a:extLst>
            </p:cNvPr>
            <p:cNvSpPr/>
            <p:nvPr userDrawn="1"/>
          </p:nvSpPr>
          <p:spPr>
            <a:xfrm>
              <a:off x="3543300" y="1828800"/>
              <a:ext cx="7535825" cy="4199859"/>
            </a:xfrm>
            <a:prstGeom prst="roundRect">
              <a:avLst>
                <a:gd name="adj" fmla="val 6731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4DB9FD65-3500-E033-C5CE-D56F9D40FE3B}"/>
                </a:ext>
              </a:extLst>
            </p:cNvPr>
            <p:cNvSpPr/>
            <p:nvPr userDrawn="1"/>
          </p:nvSpPr>
          <p:spPr>
            <a:xfrm>
              <a:off x="4098851" y="2163722"/>
              <a:ext cx="6023344" cy="355659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8" name="Rectángulo redondeado 7">
              <a:extLst>
                <a:ext uri="{FF2B5EF4-FFF2-40B4-BE49-F238E27FC236}">
                  <a16:creationId xmlns:a16="http://schemas.microsoft.com/office/drawing/2014/main" id="{4F7ED973-06CF-C958-C9C9-C8ED8BEC2A7A}"/>
                </a:ext>
              </a:extLst>
            </p:cNvPr>
            <p:cNvSpPr/>
            <p:nvPr userDrawn="1"/>
          </p:nvSpPr>
          <p:spPr>
            <a:xfrm>
              <a:off x="10560571" y="3357797"/>
              <a:ext cx="150249" cy="1123821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E36F2BAD-90F7-58B5-C28C-AD8058F00783}"/>
              </a:ext>
            </a:extLst>
          </p:cNvPr>
          <p:cNvGrpSpPr/>
          <p:nvPr userDrawn="1"/>
        </p:nvGrpSpPr>
        <p:grpSpPr>
          <a:xfrm>
            <a:off x="98453" y="4987636"/>
            <a:ext cx="552531" cy="1934329"/>
            <a:chOff x="98453" y="4987637"/>
            <a:chExt cx="552531" cy="1879630"/>
          </a:xfrm>
          <a:solidFill>
            <a:schemeClr val="bg1"/>
          </a:solidFill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CCBD4240-2C70-D88D-DD7C-5E7A856EB176}"/>
                </a:ext>
              </a:extLst>
            </p:cNvPr>
            <p:cNvSpPr/>
            <p:nvPr userDrawn="1"/>
          </p:nvSpPr>
          <p:spPr>
            <a:xfrm flipH="1">
              <a:off x="605265" y="4987637"/>
              <a:ext cx="45719" cy="18796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6144F95A-84F5-6650-8BEC-A1935C912258}"/>
                </a:ext>
              </a:extLst>
            </p:cNvPr>
            <p:cNvSpPr/>
            <p:nvPr userDrawn="1"/>
          </p:nvSpPr>
          <p:spPr>
            <a:xfrm flipH="1">
              <a:off x="483027" y="4987637"/>
              <a:ext cx="45719" cy="18796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42EB86E2-7690-68B0-85B2-BE29E6234C0F}"/>
                </a:ext>
              </a:extLst>
            </p:cNvPr>
            <p:cNvSpPr/>
            <p:nvPr userDrawn="1"/>
          </p:nvSpPr>
          <p:spPr>
            <a:xfrm flipH="1">
              <a:off x="347969" y="4987637"/>
              <a:ext cx="45719" cy="18796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7A06B535-0A7C-35D5-9252-9540D873AA2E}"/>
                </a:ext>
              </a:extLst>
            </p:cNvPr>
            <p:cNvSpPr/>
            <p:nvPr userDrawn="1"/>
          </p:nvSpPr>
          <p:spPr>
            <a:xfrm flipH="1">
              <a:off x="224933" y="4987637"/>
              <a:ext cx="50612" cy="18796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FE15B268-F441-F1B2-D389-59086E141132}"/>
                </a:ext>
              </a:extLst>
            </p:cNvPr>
            <p:cNvSpPr/>
            <p:nvPr userDrawn="1"/>
          </p:nvSpPr>
          <p:spPr>
            <a:xfrm flipH="1">
              <a:off x="98453" y="4987637"/>
              <a:ext cx="50612" cy="18796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</p:spTree>
    <p:extLst>
      <p:ext uri="{BB962C8B-B14F-4D97-AF65-F5344CB8AC3E}">
        <p14:creationId xmlns:p14="http://schemas.microsoft.com/office/powerpoint/2010/main" val="2413705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C2FED8B-0C0A-FD95-75C5-85B0145273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55" r="16480"/>
          <a:stretch/>
        </p:blipFill>
        <p:spPr>
          <a:xfrm>
            <a:off x="7772405" y="-63965"/>
            <a:ext cx="4548187" cy="698969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9E84804F-A8B2-4214-280F-1D1939EBC696}"/>
              </a:ext>
            </a:extLst>
          </p:cNvPr>
          <p:cNvSpPr/>
          <p:nvPr userDrawn="1"/>
        </p:nvSpPr>
        <p:spPr>
          <a:xfrm>
            <a:off x="-114299" y="-63965"/>
            <a:ext cx="8381999" cy="6985931"/>
          </a:xfrm>
          <a:prstGeom prst="rect">
            <a:avLst/>
          </a:prstGeom>
          <a:solidFill>
            <a:srgbClr val="6C0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  <a:p>
            <a:pPr algn="ctr"/>
            <a:endParaRPr lang="es-PE" dirty="0"/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15AAEB80-AF4D-5241-9331-4E16D3F34AC9}"/>
              </a:ext>
            </a:extLst>
          </p:cNvPr>
          <p:cNvGrpSpPr/>
          <p:nvPr userDrawn="1"/>
        </p:nvGrpSpPr>
        <p:grpSpPr>
          <a:xfrm>
            <a:off x="9705226" y="6414247"/>
            <a:ext cx="2396658" cy="575448"/>
            <a:chOff x="9705226" y="6414247"/>
            <a:chExt cx="2396658" cy="507718"/>
          </a:xfrm>
          <a:solidFill>
            <a:schemeClr val="bg1"/>
          </a:solidFill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DCACB173-D163-7503-1753-2426D987FA3D}"/>
                </a:ext>
              </a:extLst>
            </p:cNvPr>
            <p:cNvSpPr/>
            <p:nvPr userDrawn="1"/>
          </p:nvSpPr>
          <p:spPr>
            <a:xfrm flipH="1">
              <a:off x="9705226" y="6414247"/>
              <a:ext cx="45719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9330D6EF-611C-61C0-C748-C8E1CD5D1FAD}"/>
                </a:ext>
              </a:extLst>
            </p:cNvPr>
            <p:cNvSpPr/>
            <p:nvPr userDrawn="1"/>
          </p:nvSpPr>
          <p:spPr>
            <a:xfrm flipH="1">
              <a:off x="9869551" y="6414247"/>
              <a:ext cx="57651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4952BDEF-5F35-28B8-1B65-236FB7901B1E}"/>
                </a:ext>
              </a:extLst>
            </p:cNvPr>
            <p:cNvSpPr/>
            <p:nvPr userDrawn="1"/>
          </p:nvSpPr>
          <p:spPr>
            <a:xfrm flipH="1">
              <a:off x="10050447" y="6414247"/>
              <a:ext cx="59635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099AF0CF-25D6-6A9B-45EA-22CE996736F4}"/>
                </a:ext>
              </a:extLst>
            </p:cNvPr>
            <p:cNvSpPr/>
            <p:nvPr userDrawn="1"/>
          </p:nvSpPr>
          <p:spPr>
            <a:xfrm flipH="1">
              <a:off x="10226701" y="6414247"/>
              <a:ext cx="59635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DDF27563-1D41-8190-BADF-E0AB51AE1834}"/>
                </a:ext>
              </a:extLst>
            </p:cNvPr>
            <p:cNvSpPr/>
            <p:nvPr userDrawn="1"/>
          </p:nvSpPr>
          <p:spPr>
            <a:xfrm flipH="1">
              <a:off x="10402954" y="6414247"/>
              <a:ext cx="68913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3E9C0E89-5943-771B-203A-0E84ADE93494}"/>
                </a:ext>
              </a:extLst>
            </p:cNvPr>
            <p:cNvSpPr/>
            <p:nvPr userDrawn="1"/>
          </p:nvSpPr>
          <p:spPr>
            <a:xfrm flipH="1">
              <a:off x="10567280" y="6414247"/>
              <a:ext cx="87467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035F6823-B55A-EB14-C7CD-893B4E71F569}"/>
                </a:ext>
              </a:extLst>
            </p:cNvPr>
            <p:cNvSpPr/>
            <p:nvPr userDrawn="1"/>
          </p:nvSpPr>
          <p:spPr>
            <a:xfrm flipH="1">
              <a:off x="10748831" y="6414247"/>
              <a:ext cx="87467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0FFFD08D-431E-6CEC-9454-5D878934918A}"/>
                </a:ext>
              </a:extLst>
            </p:cNvPr>
            <p:cNvSpPr/>
            <p:nvPr userDrawn="1"/>
          </p:nvSpPr>
          <p:spPr>
            <a:xfrm flipH="1">
              <a:off x="10923759" y="6414247"/>
              <a:ext cx="96748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73F34685-B1A8-100F-8299-BC44C270ECE5}"/>
                </a:ext>
              </a:extLst>
            </p:cNvPr>
            <p:cNvSpPr/>
            <p:nvPr userDrawn="1"/>
          </p:nvSpPr>
          <p:spPr>
            <a:xfrm flipH="1">
              <a:off x="11091723" y="6414247"/>
              <a:ext cx="103714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63E3941C-88B7-3EA0-090A-55E9F694856D}"/>
                </a:ext>
              </a:extLst>
            </p:cNvPr>
            <p:cNvSpPr/>
            <p:nvPr userDrawn="1"/>
          </p:nvSpPr>
          <p:spPr>
            <a:xfrm flipH="1">
              <a:off x="11266653" y="6414247"/>
              <a:ext cx="111664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4490DD13-8CBA-8848-5090-7A49D03E0FB7}"/>
                </a:ext>
              </a:extLst>
            </p:cNvPr>
            <p:cNvSpPr/>
            <p:nvPr userDrawn="1"/>
          </p:nvSpPr>
          <p:spPr>
            <a:xfrm flipH="1">
              <a:off x="11441593" y="6414247"/>
              <a:ext cx="119603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63D9B08C-B991-285F-BD69-14A966AB051D}"/>
                </a:ext>
              </a:extLst>
            </p:cNvPr>
            <p:cNvSpPr/>
            <p:nvPr userDrawn="1"/>
          </p:nvSpPr>
          <p:spPr>
            <a:xfrm flipH="1">
              <a:off x="11616855" y="6414247"/>
              <a:ext cx="127219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DA5442D4-3A9B-4628-9D81-38E7F6E573A2}"/>
                </a:ext>
              </a:extLst>
            </p:cNvPr>
            <p:cNvSpPr/>
            <p:nvPr userDrawn="1"/>
          </p:nvSpPr>
          <p:spPr>
            <a:xfrm flipH="1">
              <a:off x="11791784" y="6414247"/>
              <a:ext cx="130200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677C1DCF-9201-F4D5-0409-65AC92EDD198}"/>
                </a:ext>
              </a:extLst>
            </p:cNvPr>
            <p:cNvSpPr/>
            <p:nvPr userDrawn="1"/>
          </p:nvSpPr>
          <p:spPr>
            <a:xfrm flipH="1">
              <a:off x="11962905" y="6414247"/>
              <a:ext cx="138979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</p:spTree>
    <p:extLst>
      <p:ext uri="{BB962C8B-B14F-4D97-AF65-F5344CB8AC3E}">
        <p14:creationId xmlns:p14="http://schemas.microsoft.com/office/powerpoint/2010/main" val="336029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0A4BEA0-4FB0-B191-3C7A-A5541981DF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87" r="3463"/>
          <a:stretch/>
        </p:blipFill>
        <p:spPr>
          <a:xfrm flipH="1">
            <a:off x="-157164" y="-86577"/>
            <a:ext cx="10477001" cy="7044589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3695B068-C99A-1782-18A6-4F0893FDAB46}"/>
              </a:ext>
            </a:extLst>
          </p:cNvPr>
          <p:cNvSpPr/>
          <p:nvPr userDrawn="1"/>
        </p:nvSpPr>
        <p:spPr>
          <a:xfrm flipH="1">
            <a:off x="8372474" y="-63965"/>
            <a:ext cx="3114675" cy="6350465"/>
          </a:xfrm>
          <a:prstGeom prst="rect">
            <a:avLst/>
          </a:prstGeom>
          <a:solidFill>
            <a:srgbClr val="6C0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  <a:p>
            <a:pPr algn="ctr"/>
            <a:endParaRPr lang="es-PE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A981CAC-4B06-F461-0F5C-A7FD2C624F69}"/>
              </a:ext>
            </a:extLst>
          </p:cNvPr>
          <p:cNvSpPr txBox="1"/>
          <p:nvPr userDrawn="1"/>
        </p:nvSpPr>
        <p:spPr>
          <a:xfrm rot="16200000">
            <a:off x="8623671" y="2349534"/>
            <a:ext cx="508977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8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Tema</a:t>
            </a:r>
          </a:p>
        </p:txBody>
      </p:sp>
    </p:spTree>
    <p:extLst>
      <p:ext uri="{BB962C8B-B14F-4D97-AF65-F5344CB8AC3E}">
        <p14:creationId xmlns:p14="http://schemas.microsoft.com/office/powerpoint/2010/main" val="3137793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605BCFDC-AEB7-D4E2-B252-D7A437D41EB1}"/>
              </a:ext>
            </a:extLst>
          </p:cNvPr>
          <p:cNvSpPr/>
          <p:nvPr userDrawn="1"/>
        </p:nvSpPr>
        <p:spPr>
          <a:xfrm>
            <a:off x="11996163" y="-63965"/>
            <a:ext cx="224413" cy="6985931"/>
          </a:xfrm>
          <a:prstGeom prst="rect">
            <a:avLst/>
          </a:prstGeom>
          <a:solidFill>
            <a:srgbClr val="6C0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  <a:p>
            <a:pPr algn="ctr"/>
            <a:endParaRPr lang="es-PE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7FD9F81-72D2-CCAC-47EA-D4EB933BCFE5}"/>
              </a:ext>
            </a:extLst>
          </p:cNvPr>
          <p:cNvSpPr/>
          <p:nvPr userDrawn="1"/>
        </p:nvSpPr>
        <p:spPr>
          <a:xfrm>
            <a:off x="-28576" y="-63965"/>
            <a:ext cx="622998" cy="6985931"/>
          </a:xfrm>
          <a:prstGeom prst="rect">
            <a:avLst/>
          </a:prstGeom>
          <a:solidFill>
            <a:srgbClr val="6C0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  <a:p>
            <a:pPr algn="ctr"/>
            <a:endParaRPr lang="es-PE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2A38778-0D78-5BC3-2040-8A4D472A7362}"/>
              </a:ext>
            </a:extLst>
          </p:cNvPr>
          <p:cNvSpPr/>
          <p:nvPr userDrawn="1"/>
        </p:nvSpPr>
        <p:spPr>
          <a:xfrm>
            <a:off x="594422" y="-63965"/>
            <a:ext cx="90435" cy="6985931"/>
          </a:xfrm>
          <a:prstGeom prst="rect">
            <a:avLst/>
          </a:prstGeom>
          <a:solidFill>
            <a:srgbClr val="B418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  <a:p>
            <a:pPr algn="ctr"/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52870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1">
            <a:extLst>
              <a:ext uri="{FF2B5EF4-FFF2-40B4-BE49-F238E27FC236}">
                <a16:creationId xmlns:a16="http://schemas.microsoft.com/office/drawing/2014/main" id="{CEE21166-4746-C4EF-ED86-6D6A2033F01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84" t="14832" b="10998"/>
          <a:stretch/>
        </p:blipFill>
        <p:spPr>
          <a:xfrm>
            <a:off x="-100013" y="-63965"/>
            <a:ext cx="6396042" cy="6985931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206E95BF-93DC-3EF1-1B9C-7EEA29B44D85}"/>
              </a:ext>
            </a:extLst>
          </p:cNvPr>
          <p:cNvSpPr/>
          <p:nvPr userDrawn="1"/>
        </p:nvSpPr>
        <p:spPr>
          <a:xfrm>
            <a:off x="6096000" y="-63965"/>
            <a:ext cx="6148762" cy="6985931"/>
          </a:xfrm>
          <a:prstGeom prst="rect">
            <a:avLst/>
          </a:prstGeom>
          <a:solidFill>
            <a:srgbClr val="6C0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  <a:p>
            <a:pPr algn="ctr"/>
            <a:endParaRPr lang="es-PE" dirty="0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1BEF9533-0CAD-29B2-52BC-CC538FE12649}"/>
              </a:ext>
            </a:extLst>
          </p:cNvPr>
          <p:cNvGrpSpPr/>
          <p:nvPr userDrawn="1"/>
        </p:nvGrpSpPr>
        <p:grpSpPr>
          <a:xfrm>
            <a:off x="9848104" y="-63965"/>
            <a:ext cx="2396658" cy="764053"/>
            <a:chOff x="9705226" y="6414247"/>
            <a:chExt cx="2396658" cy="507718"/>
          </a:xfrm>
          <a:solidFill>
            <a:schemeClr val="bg1"/>
          </a:solidFill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16A9D1AF-19F0-DD5D-5DA5-385419377F01}"/>
                </a:ext>
              </a:extLst>
            </p:cNvPr>
            <p:cNvSpPr/>
            <p:nvPr userDrawn="1"/>
          </p:nvSpPr>
          <p:spPr>
            <a:xfrm flipH="1">
              <a:off x="9705226" y="6414247"/>
              <a:ext cx="45719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E6AA1754-C133-2B92-4C7F-4AB106224244}"/>
                </a:ext>
              </a:extLst>
            </p:cNvPr>
            <p:cNvSpPr/>
            <p:nvPr userDrawn="1"/>
          </p:nvSpPr>
          <p:spPr>
            <a:xfrm flipH="1">
              <a:off x="9869551" y="6414247"/>
              <a:ext cx="57651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D925055F-B220-8D44-0379-7B19DFB8AC5B}"/>
                </a:ext>
              </a:extLst>
            </p:cNvPr>
            <p:cNvSpPr/>
            <p:nvPr userDrawn="1"/>
          </p:nvSpPr>
          <p:spPr>
            <a:xfrm flipH="1">
              <a:off x="10050447" y="6414247"/>
              <a:ext cx="59635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DD6358A4-CA38-C986-AF84-2092C6B1E9ED}"/>
                </a:ext>
              </a:extLst>
            </p:cNvPr>
            <p:cNvSpPr/>
            <p:nvPr userDrawn="1"/>
          </p:nvSpPr>
          <p:spPr>
            <a:xfrm flipH="1">
              <a:off x="10226701" y="6414247"/>
              <a:ext cx="59635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D0862FCB-AFEF-4D63-172C-FEB8AC2E9A68}"/>
                </a:ext>
              </a:extLst>
            </p:cNvPr>
            <p:cNvSpPr/>
            <p:nvPr userDrawn="1"/>
          </p:nvSpPr>
          <p:spPr>
            <a:xfrm flipH="1">
              <a:off x="10402954" y="6414247"/>
              <a:ext cx="68913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33842C74-310C-BF6A-D73F-95A948338A3C}"/>
                </a:ext>
              </a:extLst>
            </p:cNvPr>
            <p:cNvSpPr/>
            <p:nvPr userDrawn="1"/>
          </p:nvSpPr>
          <p:spPr>
            <a:xfrm flipH="1">
              <a:off x="10567280" y="6414247"/>
              <a:ext cx="87467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E861D8D0-3230-9AC8-6358-975B3E8E8294}"/>
                </a:ext>
              </a:extLst>
            </p:cNvPr>
            <p:cNvSpPr/>
            <p:nvPr userDrawn="1"/>
          </p:nvSpPr>
          <p:spPr>
            <a:xfrm flipH="1">
              <a:off x="10748831" y="6414247"/>
              <a:ext cx="87467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A492F803-422C-129E-E992-B612C25DFE7D}"/>
                </a:ext>
              </a:extLst>
            </p:cNvPr>
            <p:cNvSpPr/>
            <p:nvPr userDrawn="1"/>
          </p:nvSpPr>
          <p:spPr>
            <a:xfrm flipH="1">
              <a:off x="10923759" y="6414247"/>
              <a:ext cx="96748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D712FCB9-88B8-8D2E-E7EE-AEBB9D8FC14C}"/>
                </a:ext>
              </a:extLst>
            </p:cNvPr>
            <p:cNvSpPr/>
            <p:nvPr userDrawn="1"/>
          </p:nvSpPr>
          <p:spPr>
            <a:xfrm flipH="1">
              <a:off x="11091723" y="6414247"/>
              <a:ext cx="103714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1B06EFFD-E43A-2C91-C532-5612E4B0F5E6}"/>
                </a:ext>
              </a:extLst>
            </p:cNvPr>
            <p:cNvSpPr/>
            <p:nvPr userDrawn="1"/>
          </p:nvSpPr>
          <p:spPr>
            <a:xfrm flipH="1">
              <a:off x="11266653" y="6414247"/>
              <a:ext cx="111664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C519C26C-0915-8E2D-CA19-25FEAD834889}"/>
                </a:ext>
              </a:extLst>
            </p:cNvPr>
            <p:cNvSpPr/>
            <p:nvPr userDrawn="1"/>
          </p:nvSpPr>
          <p:spPr>
            <a:xfrm flipH="1">
              <a:off x="11441593" y="6414247"/>
              <a:ext cx="119603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72FC3DCA-8CFD-223C-E77A-ABC3A334CBB0}"/>
                </a:ext>
              </a:extLst>
            </p:cNvPr>
            <p:cNvSpPr/>
            <p:nvPr userDrawn="1"/>
          </p:nvSpPr>
          <p:spPr>
            <a:xfrm flipH="1">
              <a:off x="11616855" y="6414247"/>
              <a:ext cx="127219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ED5E2350-8341-30FE-B8F6-ED211D86AE44}"/>
                </a:ext>
              </a:extLst>
            </p:cNvPr>
            <p:cNvSpPr/>
            <p:nvPr userDrawn="1"/>
          </p:nvSpPr>
          <p:spPr>
            <a:xfrm flipH="1">
              <a:off x="11791784" y="6414247"/>
              <a:ext cx="130200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79752899-BA4E-FCF8-EAB9-D4FB44DF16B3}"/>
                </a:ext>
              </a:extLst>
            </p:cNvPr>
            <p:cNvSpPr/>
            <p:nvPr userDrawn="1"/>
          </p:nvSpPr>
          <p:spPr>
            <a:xfrm flipH="1">
              <a:off x="11962905" y="6414247"/>
              <a:ext cx="138979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</p:spTree>
    <p:extLst>
      <p:ext uri="{BB962C8B-B14F-4D97-AF65-F5344CB8AC3E}">
        <p14:creationId xmlns:p14="http://schemas.microsoft.com/office/powerpoint/2010/main" val="1688885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8C16DF0C-2A6D-BA73-3426-6410F6C255A0}"/>
              </a:ext>
            </a:extLst>
          </p:cNvPr>
          <p:cNvSpPr/>
          <p:nvPr userDrawn="1"/>
        </p:nvSpPr>
        <p:spPr>
          <a:xfrm>
            <a:off x="86244" y="-63965"/>
            <a:ext cx="12105756" cy="69859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  <a:p>
            <a:pPr algn="ctr"/>
            <a:endParaRPr lang="es-PE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FD0116D-A700-F242-CBB5-57CA0C183657}"/>
              </a:ext>
            </a:extLst>
          </p:cNvPr>
          <p:cNvSpPr/>
          <p:nvPr userDrawn="1"/>
        </p:nvSpPr>
        <p:spPr>
          <a:xfrm flipH="1">
            <a:off x="984894" y="-63965"/>
            <a:ext cx="224413" cy="6985931"/>
          </a:xfrm>
          <a:prstGeom prst="rect">
            <a:avLst/>
          </a:prstGeom>
          <a:solidFill>
            <a:srgbClr val="B418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  <a:p>
            <a:pPr algn="ctr"/>
            <a:endParaRPr lang="es-PE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D5295A8-1D9D-7BED-9DA9-626C2D0BD258}"/>
              </a:ext>
            </a:extLst>
          </p:cNvPr>
          <p:cNvSpPr/>
          <p:nvPr userDrawn="1"/>
        </p:nvSpPr>
        <p:spPr>
          <a:xfrm>
            <a:off x="11996163" y="-63965"/>
            <a:ext cx="224413" cy="6985931"/>
          </a:xfrm>
          <a:prstGeom prst="rect">
            <a:avLst/>
          </a:prstGeom>
          <a:solidFill>
            <a:srgbClr val="6C0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  <a:p>
            <a:pPr algn="ctr"/>
            <a:endParaRPr lang="es-PE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E087DE4-92D3-90D3-E162-943AF8928C81}"/>
              </a:ext>
            </a:extLst>
          </p:cNvPr>
          <p:cNvSpPr/>
          <p:nvPr userDrawn="1"/>
        </p:nvSpPr>
        <p:spPr>
          <a:xfrm>
            <a:off x="-28577" y="-63965"/>
            <a:ext cx="1123063" cy="6985931"/>
          </a:xfrm>
          <a:prstGeom prst="rect">
            <a:avLst/>
          </a:prstGeom>
          <a:solidFill>
            <a:srgbClr val="6C0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  <a:p>
            <a:pPr algn="ctr"/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06619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7C5A9A0A-1FC5-B2E2-9E98-1A2D7E8F97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18"/>
          <a:stretch/>
        </p:blipFill>
        <p:spPr>
          <a:xfrm>
            <a:off x="6948489" y="-83671"/>
            <a:ext cx="6124574" cy="7005637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5D476FE2-4188-5D0D-D784-64A579FA4759}"/>
              </a:ext>
            </a:extLst>
          </p:cNvPr>
          <p:cNvSpPr/>
          <p:nvPr userDrawn="1"/>
        </p:nvSpPr>
        <p:spPr>
          <a:xfrm>
            <a:off x="-114299" y="-63965"/>
            <a:ext cx="7215187" cy="6985931"/>
          </a:xfrm>
          <a:prstGeom prst="rect">
            <a:avLst/>
          </a:prstGeom>
          <a:solidFill>
            <a:srgbClr val="6C0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  <a:p>
            <a:pPr algn="ctr"/>
            <a:endParaRPr lang="es-PE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5CD6869-D003-FAA9-A941-2B919DC836BA}"/>
              </a:ext>
            </a:extLst>
          </p:cNvPr>
          <p:cNvSpPr/>
          <p:nvPr userDrawn="1"/>
        </p:nvSpPr>
        <p:spPr>
          <a:xfrm>
            <a:off x="-114299" y="802812"/>
            <a:ext cx="5686424" cy="13831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  <a:p>
            <a:pPr algn="ctr"/>
            <a:endParaRPr lang="es-PE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EE426E5-31ED-C6A7-D575-2265253FE473}"/>
              </a:ext>
            </a:extLst>
          </p:cNvPr>
          <p:cNvSpPr txBox="1"/>
          <p:nvPr userDrawn="1"/>
        </p:nvSpPr>
        <p:spPr>
          <a:xfrm>
            <a:off x="1393031" y="1021556"/>
            <a:ext cx="36790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3200" b="1" dirty="0">
                <a:solidFill>
                  <a:srgbClr val="6C0E1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Autoevaluación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2381233-54FE-FAAE-BA32-5B2CACC6EC2F}"/>
              </a:ext>
            </a:extLst>
          </p:cNvPr>
          <p:cNvSpPr txBox="1"/>
          <p:nvPr userDrawn="1"/>
        </p:nvSpPr>
        <p:spPr>
          <a:xfrm>
            <a:off x="1393030" y="1489823"/>
            <a:ext cx="36790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200" b="0" dirty="0">
                <a:solidFill>
                  <a:srgbClr val="6C0E1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¡Vamos por más logros!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E96EE9F-5874-906F-A708-3714E44FF7CD}"/>
              </a:ext>
            </a:extLst>
          </p:cNvPr>
          <p:cNvSpPr txBox="1"/>
          <p:nvPr userDrawn="1"/>
        </p:nvSpPr>
        <p:spPr>
          <a:xfrm>
            <a:off x="1543050" y="3429000"/>
            <a:ext cx="45529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4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¡Felicitaciones!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6101B9E-D797-655C-865D-C1C7C3D15BA2}"/>
              </a:ext>
            </a:extLst>
          </p:cNvPr>
          <p:cNvSpPr txBox="1"/>
          <p:nvPr userDrawn="1"/>
        </p:nvSpPr>
        <p:spPr>
          <a:xfrm>
            <a:off x="1543051" y="4198441"/>
            <a:ext cx="45529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2200" b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Ha concluido la autoevaluación</a:t>
            </a:r>
          </a:p>
        </p:txBody>
      </p:sp>
    </p:spTree>
    <p:extLst>
      <p:ext uri="{BB962C8B-B14F-4D97-AF65-F5344CB8AC3E}">
        <p14:creationId xmlns:p14="http://schemas.microsoft.com/office/powerpoint/2010/main" val="4162477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FF93ECB-6C4B-596B-90E1-ED63725EC2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190"/>
          <a:stretch/>
        </p:blipFill>
        <p:spPr>
          <a:xfrm>
            <a:off x="4972054" y="-95948"/>
            <a:ext cx="7318757" cy="6991406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7815E370-BEB9-E9EE-5DB4-24DB04EE7C37}"/>
              </a:ext>
            </a:extLst>
          </p:cNvPr>
          <p:cNvSpPr/>
          <p:nvPr userDrawn="1"/>
        </p:nvSpPr>
        <p:spPr>
          <a:xfrm>
            <a:off x="0" y="-93210"/>
            <a:ext cx="9201150" cy="6985931"/>
          </a:xfrm>
          <a:prstGeom prst="rect">
            <a:avLst/>
          </a:prstGeom>
          <a:solidFill>
            <a:srgbClr val="6C0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  <a:p>
            <a:pPr algn="ctr"/>
            <a:endParaRPr lang="es-PE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C3DD28F-B070-F91E-E460-8FF717CF7154}"/>
              </a:ext>
            </a:extLst>
          </p:cNvPr>
          <p:cNvSpPr/>
          <p:nvPr userDrawn="1"/>
        </p:nvSpPr>
        <p:spPr>
          <a:xfrm>
            <a:off x="-128589" y="-93210"/>
            <a:ext cx="1371601" cy="69859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  <a:p>
            <a:pPr algn="ctr"/>
            <a:endParaRPr lang="es-PE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B44FFD3-0935-AD7C-9133-3192DC8E3A51}"/>
              </a:ext>
            </a:extLst>
          </p:cNvPr>
          <p:cNvSpPr txBox="1"/>
          <p:nvPr userDrawn="1"/>
        </p:nvSpPr>
        <p:spPr>
          <a:xfrm rot="16200000">
            <a:off x="-1956735" y="3015035"/>
            <a:ext cx="50897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4400" b="1" dirty="0">
                <a:solidFill>
                  <a:srgbClr val="6C0E1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Conclusiones</a:t>
            </a:r>
          </a:p>
        </p:txBody>
      </p:sp>
    </p:spTree>
    <p:extLst>
      <p:ext uri="{BB962C8B-B14F-4D97-AF65-F5344CB8AC3E}">
        <p14:creationId xmlns:p14="http://schemas.microsoft.com/office/powerpoint/2010/main" val="18734477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06E95BF-93DC-3EF1-1B9C-7EEA29B44D85}"/>
              </a:ext>
            </a:extLst>
          </p:cNvPr>
          <p:cNvSpPr/>
          <p:nvPr userDrawn="1"/>
        </p:nvSpPr>
        <p:spPr>
          <a:xfrm>
            <a:off x="-142875" y="-63965"/>
            <a:ext cx="12387637" cy="6985931"/>
          </a:xfrm>
          <a:prstGeom prst="rect">
            <a:avLst/>
          </a:prstGeom>
          <a:solidFill>
            <a:srgbClr val="6C0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  <a:p>
            <a:pPr algn="ctr"/>
            <a:endParaRPr lang="es-PE" dirty="0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1BEF9533-0CAD-29B2-52BC-CC538FE12649}"/>
              </a:ext>
            </a:extLst>
          </p:cNvPr>
          <p:cNvGrpSpPr/>
          <p:nvPr userDrawn="1"/>
        </p:nvGrpSpPr>
        <p:grpSpPr>
          <a:xfrm>
            <a:off x="10058400" y="-78251"/>
            <a:ext cx="2186362" cy="7000217"/>
            <a:chOff x="9705226" y="6414247"/>
            <a:chExt cx="2396658" cy="507718"/>
          </a:xfrm>
          <a:solidFill>
            <a:schemeClr val="bg1"/>
          </a:solidFill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16A9D1AF-19F0-DD5D-5DA5-385419377F01}"/>
                </a:ext>
              </a:extLst>
            </p:cNvPr>
            <p:cNvSpPr/>
            <p:nvPr userDrawn="1"/>
          </p:nvSpPr>
          <p:spPr>
            <a:xfrm flipH="1">
              <a:off x="9705226" y="6414247"/>
              <a:ext cx="45719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E6AA1754-C133-2B92-4C7F-4AB106224244}"/>
                </a:ext>
              </a:extLst>
            </p:cNvPr>
            <p:cNvSpPr/>
            <p:nvPr userDrawn="1"/>
          </p:nvSpPr>
          <p:spPr>
            <a:xfrm flipH="1">
              <a:off x="9869551" y="6414247"/>
              <a:ext cx="57651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D925055F-B220-8D44-0379-7B19DFB8AC5B}"/>
                </a:ext>
              </a:extLst>
            </p:cNvPr>
            <p:cNvSpPr/>
            <p:nvPr userDrawn="1"/>
          </p:nvSpPr>
          <p:spPr>
            <a:xfrm flipH="1">
              <a:off x="10050447" y="6414247"/>
              <a:ext cx="59635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DD6358A4-CA38-C986-AF84-2092C6B1E9ED}"/>
                </a:ext>
              </a:extLst>
            </p:cNvPr>
            <p:cNvSpPr/>
            <p:nvPr userDrawn="1"/>
          </p:nvSpPr>
          <p:spPr>
            <a:xfrm flipH="1">
              <a:off x="10226701" y="6414247"/>
              <a:ext cx="59635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D0862FCB-AFEF-4D63-172C-FEB8AC2E9A68}"/>
                </a:ext>
              </a:extLst>
            </p:cNvPr>
            <p:cNvSpPr/>
            <p:nvPr userDrawn="1"/>
          </p:nvSpPr>
          <p:spPr>
            <a:xfrm flipH="1">
              <a:off x="10402954" y="6414247"/>
              <a:ext cx="68913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33842C74-310C-BF6A-D73F-95A948338A3C}"/>
                </a:ext>
              </a:extLst>
            </p:cNvPr>
            <p:cNvSpPr/>
            <p:nvPr userDrawn="1"/>
          </p:nvSpPr>
          <p:spPr>
            <a:xfrm flipH="1">
              <a:off x="10567280" y="6414247"/>
              <a:ext cx="87467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E861D8D0-3230-9AC8-6358-975B3E8E8294}"/>
                </a:ext>
              </a:extLst>
            </p:cNvPr>
            <p:cNvSpPr/>
            <p:nvPr userDrawn="1"/>
          </p:nvSpPr>
          <p:spPr>
            <a:xfrm flipH="1">
              <a:off x="10748831" y="6414247"/>
              <a:ext cx="87467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A492F803-422C-129E-E992-B612C25DFE7D}"/>
                </a:ext>
              </a:extLst>
            </p:cNvPr>
            <p:cNvSpPr/>
            <p:nvPr userDrawn="1"/>
          </p:nvSpPr>
          <p:spPr>
            <a:xfrm flipH="1">
              <a:off x="10923759" y="6414247"/>
              <a:ext cx="96748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D712FCB9-88B8-8D2E-E7EE-AEBB9D8FC14C}"/>
                </a:ext>
              </a:extLst>
            </p:cNvPr>
            <p:cNvSpPr/>
            <p:nvPr userDrawn="1"/>
          </p:nvSpPr>
          <p:spPr>
            <a:xfrm flipH="1">
              <a:off x="11091723" y="6414247"/>
              <a:ext cx="103714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1B06EFFD-E43A-2C91-C532-5612E4B0F5E6}"/>
                </a:ext>
              </a:extLst>
            </p:cNvPr>
            <p:cNvSpPr/>
            <p:nvPr userDrawn="1"/>
          </p:nvSpPr>
          <p:spPr>
            <a:xfrm flipH="1">
              <a:off x="11266653" y="6414247"/>
              <a:ext cx="111664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C519C26C-0915-8E2D-CA19-25FEAD834889}"/>
                </a:ext>
              </a:extLst>
            </p:cNvPr>
            <p:cNvSpPr/>
            <p:nvPr userDrawn="1"/>
          </p:nvSpPr>
          <p:spPr>
            <a:xfrm flipH="1">
              <a:off x="11441593" y="6414247"/>
              <a:ext cx="119603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72FC3DCA-8CFD-223C-E77A-ABC3A334CBB0}"/>
                </a:ext>
              </a:extLst>
            </p:cNvPr>
            <p:cNvSpPr/>
            <p:nvPr userDrawn="1"/>
          </p:nvSpPr>
          <p:spPr>
            <a:xfrm flipH="1">
              <a:off x="11616855" y="6414247"/>
              <a:ext cx="127219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ED5E2350-8341-30FE-B8F6-ED211D86AE44}"/>
                </a:ext>
              </a:extLst>
            </p:cNvPr>
            <p:cNvSpPr/>
            <p:nvPr userDrawn="1"/>
          </p:nvSpPr>
          <p:spPr>
            <a:xfrm flipH="1">
              <a:off x="11791784" y="6414247"/>
              <a:ext cx="130200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79752899-BA4E-FCF8-EAB9-D4FB44DF16B3}"/>
                </a:ext>
              </a:extLst>
            </p:cNvPr>
            <p:cNvSpPr/>
            <p:nvPr userDrawn="1"/>
          </p:nvSpPr>
          <p:spPr>
            <a:xfrm flipH="1">
              <a:off x="11962905" y="6414247"/>
              <a:ext cx="138979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</p:spTree>
    <p:extLst>
      <p:ext uri="{BB962C8B-B14F-4D97-AF65-F5344CB8AC3E}">
        <p14:creationId xmlns:p14="http://schemas.microsoft.com/office/powerpoint/2010/main" val="13827371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56DE84E-2664-8E01-C118-44E8E587E5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735" r="16265"/>
          <a:stretch/>
        </p:blipFill>
        <p:spPr>
          <a:xfrm>
            <a:off x="7658098" y="-93210"/>
            <a:ext cx="4743450" cy="7017586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7815E370-BEB9-E9EE-5DB4-24DB04EE7C37}"/>
              </a:ext>
            </a:extLst>
          </p:cNvPr>
          <p:cNvSpPr/>
          <p:nvPr userDrawn="1"/>
        </p:nvSpPr>
        <p:spPr>
          <a:xfrm>
            <a:off x="0" y="-93210"/>
            <a:ext cx="9201150" cy="6985931"/>
          </a:xfrm>
          <a:prstGeom prst="rect">
            <a:avLst/>
          </a:prstGeom>
          <a:solidFill>
            <a:srgbClr val="6C0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  <a:p>
            <a:pPr algn="ctr"/>
            <a:endParaRPr lang="es-PE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C3DD28F-B070-F91E-E460-8FF717CF7154}"/>
              </a:ext>
            </a:extLst>
          </p:cNvPr>
          <p:cNvSpPr/>
          <p:nvPr userDrawn="1"/>
        </p:nvSpPr>
        <p:spPr>
          <a:xfrm>
            <a:off x="-128589" y="-93210"/>
            <a:ext cx="1371601" cy="69859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  <a:p>
            <a:pPr algn="ctr"/>
            <a:endParaRPr lang="es-PE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B44FFD3-0935-AD7C-9133-3192DC8E3A51}"/>
              </a:ext>
            </a:extLst>
          </p:cNvPr>
          <p:cNvSpPr txBox="1"/>
          <p:nvPr userDrawn="1"/>
        </p:nvSpPr>
        <p:spPr>
          <a:xfrm rot="16200000">
            <a:off x="-1956735" y="3015035"/>
            <a:ext cx="50897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4400" b="1" dirty="0">
                <a:solidFill>
                  <a:srgbClr val="6C0E1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Referencias</a:t>
            </a:r>
          </a:p>
        </p:txBody>
      </p:sp>
    </p:spTree>
    <p:extLst>
      <p:ext uri="{BB962C8B-B14F-4D97-AF65-F5344CB8AC3E}">
        <p14:creationId xmlns:p14="http://schemas.microsoft.com/office/powerpoint/2010/main" val="13326758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44B6794-414E-2253-4C1B-48333B9E7AA0}"/>
              </a:ext>
            </a:extLst>
          </p:cNvPr>
          <p:cNvSpPr/>
          <p:nvPr userDrawn="1"/>
        </p:nvSpPr>
        <p:spPr>
          <a:xfrm>
            <a:off x="-142875" y="-63965"/>
            <a:ext cx="12387637" cy="6985931"/>
          </a:xfrm>
          <a:prstGeom prst="rect">
            <a:avLst/>
          </a:prstGeom>
          <a:solidFill>
            <a:srgbClr val="6C0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  <a:p>
            <a:pPr algn="ctr"/>
            <a:endParaRPr lang="es-PE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5C9B707-408F-0C13-0BC1-7A7093D326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57"/>
          <a:stretch/>
        </p:blipFill>
        <p:spPr>
          <a:xfrm>
            <a:off x="4330747" y="2876550"/>
            <a:ext cx="3530506" cy="1104900"/>
          </a:xfrm>
          <a:prstGeom prst="rect">
            <a:avLst/>
          </a:prstGeom>
        </p:spPr>
      </p:pic>
      <p:grpSp>
        <p:nvGrpSpPr>
          <p:cNvPr id="5" name="Grupo 4">
            <a:extLst>
              <a:ext uri="{FF2B5EF4-FFF2-40B4-BE49-F238E27FC236}">
                <a16:creationId xmlns:a16="http://schemas.microsoft.com/office/drawing/2014/main" id="{113E9B06-E72F-1F9A-11DC-89B44829E390}"/>
              </a:ext>
            </a:extLst>
          </p:cNvPr>
          <p:cNvGrpSpPr/>
          <p:nvPr userDrawn="1"/>
        </p:nvGrpSpPr>
        <p:grpSpPr>
          <a:xfrm>
            <a:off x="10544174" y="6357938"/>
            <a:ext cx="1700587" cy="564028"/>
            <a:chOff x="9705226" y="6414247"/>
            <a:chExt cx="2396658" cy="507718"/>
          </a:xfrm>
          <a:solidFill>
            <a:schemeClr val="bg1"/>
          </a:solidFill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201631D5-BB3E-5BD4-FA26-B6A8D800E91A}"/>
                </a:ext>
              </a:extLst>
            </p:cNvPr>
            <p:cNvSpPr/>
            <p:nvPr userDrawn="1"/>
          </p:nvSpPr>
          <p:spPr>
            <a:xfrm flipH="1">
              <a:off x="9705226" y="6414247"/>
              <a:ext cx="45719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1A41A349-D069-3DAD-4A11-01C3A4A5C11E}"/>
                </a:ext>
              </a:extLst>
            </p:cNvPr>
            <p:cNvSpPr/>
            <p:nvPr userDrawn="1"/>
          </p:nvSpPr>
          <p:spPr>
            <a:xfrm flipH="1">
              <a:off x="9869551" y="6414247"/>
              <a:ext cx="57651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16B3DFBB-1100-4064-6CF7-9C51D834D31A}"/>
                </a:ext>
              </a:extLst>
            </p:cNvPr>
            <p:cNvSpPr/>
            <p:nvPr userDrawn="1"/>
          </p:nvSpPr>
          <p:spPr>
            <a:xfrm flipH="1">
              <a:off x="10050447" y="6414247"/>
              <a:ext cx="59635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722757D2-FF2E-0D7C-2E7A-F4EEFBA8DB2F}"/>
                </a:ext>
              </a:extLst>
            </p:cNvPr>
            <p:cNvSpPr/>
            <p:nvPr userDrawn="1"/>
          </p:nvSpPr>
          <p:spPr>
            <a:xfrm flipH="1">
              <a:off x="10226701" y="6414247"/>
              <a:ext cx="59635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C0E02B90-D9C6-73CB-C6C3-FAC0D726508B}"/>
                </a:ext>
              </a:extLst>
            </p:cNvPr>
            <p:cNvSpPr/>
            <p:nvPr userDrawn="1"/>
          </p:nvSpPr>
          <p:spPr>
            <a:xfrm flipH="1">
              <a:off x="10402954" y="6414247"/>
              <a:ext cx="68913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F9EF4129-E3C5-65E0-B742-14449AE79BB4}"/>
                </a:ext>
              </a:extLst>
            </p:cNvPr>
            <p:cNvSpPr/>
            <p:nvPr userDrawn="1"/>
          </p:nvSpPr>
          <p:spPr>
            <a:xfrm flipH="1">
              <a:off x="10567280" y="6414247"/>
              <a:ext cx="87467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E69A1E9A-8F6A-E964-6751-04139D3BA2CE}"/>
                </a:ext>
              </a:extLst>
            </p:cNvPr>
            <p:cNvSpPr/>
            <p:nvPr userDrawn="1"/>
          </p:nvSpPr>
          <p:spPr>
            <a:xfrm flipH="1">
              <a:off x="10748831" y="6414247"/>
              <a:ext cx="87467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CB587F22-495D-D831-9B0C-A269A6F2EFB8}"/>
                </a:ext>
              </a:extLst>
            </p:cNvPr>
            <p:cNvSpPr/>
            <p:nvPr userDrawn="1"/>
          </p:nvSpPr>
          <p:spPr>
            <a:xfrm flipH="1">
              <a:off x="10923759" y="6414247"/>
              <a:ext cx="96748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B6AF53D2-D333-BDD8-FAC5-CB244101687E}"/>
                </a:ext>
              </a:extLst>
            </p:cNvPr>
            <p:cNvSpPr/>
            <p:nvPr userDrawn="1"/>
          </p:nvSpPr>
          <p:spPr>
            <a:xfrm flipH="1">
              <a:off x="11091723" y="6414247"/>
              <a:ext cx="103714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40EF9CED-C766-7995-70A6-14722199FC61}"/>
                </a:ext>
              </a:extLst>
            </p:cNvPr>
            <p:cNvSpPr/>
            <p:nvPr userDrawn="1"/>
          </p:nvSpPr>
          <p:spPr>
            <a:xfrm flipH="1">
              <a:off x="11266653" y="6414247"/>
              <a:ext cx="111664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67877334-2668-A297-0D42-56B481A04A3D}"/>
                </a:ext>
              </a:extLst>
            </p:cNvPr>
            <p:cNvSpPr/>
            <p:nvPr userDrawn="1"/>
          </p:nvSpPr>
          <p:spPr>
            <a:xfrm flipH="1">
              <a:off x="11441593" y="6414247"/>
              <a:ext cx="119603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0F179C78-4831-03E7-11A4-3B0D8053AC63}"/>
                </a:ext>
              </a:extLst>
            </p:cNvPr>
            <p:cNvSpPr/>
            <p:nvPr userDrawn="1"/>
          </p:nvSpPr>
          <p:spPr>
            <a:xfrm flipH="1">
              <a:off x="11616855" y="6414247"/>
              <a:ext cx="127219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0778F89F-2ED2-C4C8-63FC-A36EF60D1895}"/>
                </a:ext>
              </a:extLst>
            </p:cNvPr>
            <p:cNvSpPr/>
            <p:nvPr userDrawn="1"/>
          </p:nvSpPr>
          <p:spPr>
            <a:xfrm flipH="1">
              <a:off x="11791784" y="6414247"/>
              <a:ext cx="130200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7F0DCC89-35F9-F8DA-CB5C-A856E919330F}"/>
                </a:ext>
              </a:extLst>
            </p:cNvPr>
            <p:cNvSpPr/>
            <p:nvPr userDrawn="1"/>
          </p:nvSpPr>
          <p:spPr>
            <a:xfrm flipH="1">
              <a:off x="11962905" y="6414247"/>
              <a:ext cx="138979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E56C6BE9-1907-F2ED-36C6-635ED9AF4C45}"/>
              </a:ext>
            </a:extLst>
          </p:cNvPr>
          <p:cNvGrpSpPr/>
          <p:nvPr userDrawn="1"/>
        </p:nvGrpSpPr>
        <p:grpSpPr>
          <a:xfrm flipH="1" flipV="1">
            <a:off x="-142875" y="-63965"/>
            <a:ext cx="1700587" cy="564028"/>
            <a:chOff x="9705226" y="6414247"/>
            <a:chExt cx="2396658" cy="507718"/>
          </a:xfrm>
          <a:solidFill>
            <a:schemeClr val="bg1"/>
          </a:solidFill>
        </p:grpSpPr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45B633CA-7337-487C-5D09-3F4D352C1F01}"/>
                </a:ext>
              </a:extLst>
            </p:cNvPr>
            <p:cNvSpPr/>
            <p:nvPr userDrawn="1"/>
          </p:nvSpPr>
          <p:spPr>
            <a:xfrm flipH="1">
              <a:off x="9705226" y="6414247"/>
              <a:ext cx="45719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59B30706-D988-0920-4364-0FACF75F5F37}"/>
                </a:ext>
              </a:extLst>
            </p:cNvPr>
            <p:cNvSpPr/>
            <p:nvPr userDrawn="1"/>
          </p:nvSpPr>
          <p:spPr>
            <a:xfrm flipH="1">
              <a:off x="9869551" y="6414247"/>
              <a:ext cx="57651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232D1086-AE74-0406-2AC0-E828A7D9848B}"/>
                </a:ext>
              </a:extLst>
            </p:cNvPr>
            <p:cNvSpPr/>
            <p:nvPr userDrawn="1"/>
          </p:nvSpPr>
          <p:spPr>
            <a:xfrm flipH="1">
              <a:off x="10050447" y="6414247"/>
              <a:ext cx="59635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DB8FFCED-8F69-26B3-891D-4FC820F881CA}"/>
                </a:ext>
              </a:extLst>
            </p:cNvPr>
            <p:cNvSpPr/>
            <p:nvPr userDrawn="1"/>
          </p:nvSpPr>
          <p:spPr>
            <a:xfrm flipH="1">
              <a:off x="10226701" y="6414247"/>
              <a:ext cx="59635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EA32DF48-EB7F-6D93-0C0E-2CE8A5231C22}"/>
                </a:ext>
              </a:extLst>
            </p:cNvPr>
            <p:cNvSpPr/>
            <p:nvPr userDrawn="1"/>
          </p:nvSpPr>
          <p:spPr>
            <a:xfrm flipH="1">
              <a:off x="10402954" y="6414247"/>
              <a:ext cx="68913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98AA0BAD-2FED-B358-AE93-A96452DA2828}"/>
                </a:ext>
              </a:extLst>
            </p:cNvPr>
            <p:cNvSpPr/>
            <p:nvPr userDrawn="1"/>
          </p:nvSpPr>
          <p:spPr>
            <a:xfrm flipH="1">
              <a:off x="10567280" y="6414247"/>
              <a:ext cx="87467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02A74291-083B-B80F-76F7-66E76557796A}"/>
                </a:ext>
              </a:extLst>
            </p:cNvPr>
            <p:cNvSpPr/>
            <p:nvPr userDrawn="1"/>
          </p:nvSpPr>
          <p:spPr>
            <a:xfrm flipH="1">
              <a:off x="10748831" y="6414247"/>
              <a:ext cx="87467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C9C53CDF-817C-7319-6540-5450256A7A7D}"/>
                </a:ext>
              </a:extLst>
            </p:cNvPr>
            <p:cNvSpPr/>
            <p:nvPr userDrawn="1"/>
          </p:nvSpPr>
          <p:spPr>
            <a:xfrm flipH="1">
              <a:off x="10923759" y="6414247"/>
              <a:ext cx="96748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901E8CF6-9677-B7EB-D0CF-E58670156651}"/>
                </a:ext>
              </a:extLst>
            </p:cNvPr>
            <p:cNvSpPr/>
            <p:nvPr userDrawn="1"/>
          </p:nvSpPr>
          <p:spPr>
            <a:xfrm flipH="1">
              <a:off x="11091723" y="6414247"/>
              <a:ext cx="103714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6629851F-2F73-36FE-2DB6-B8496BA14BA6}"/>
                </a:ext>
              </a:extLst>
            </p:cNvPr>
            <p:cNvSpPr/>
            <p:nvPr userDrawn="1"/>
          </p:nvSpPr>
          <p:spPr>
            <a:xfrm flipH="1">
              <a:off x="11266653" y="6414247"/>
              <a:ext cx="111664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EF7159FA-A4A0-B900-BAC1-118FFD956ECA}"/>
                </a:ext>
              </a:extLst>
            </p:cNvPr>
            <p:cNvSpPr/>
            <p:nvPr userDrawn="1"/>
          </p:nvSpPr>
          <p:spPr>
            <a:xfrm flipH="1">
              <a:off x="11441593" y="6414247"/>
              <a:ext cx="119603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3" name="Rectángulo 32">
              <a:extLst>
                <a:ext uri="{FF2B5EF4-FFF2-40B4-BE49-F238E27FC236}">
                  <a16:creationId xmlns:a16="http://schemas.microsoft.com/office/drawing/2014/main" id="{183C29BD-9145-FDD0-29F7-95403C6F9BBE}"/>
                </a:ext>
              </a:extLst>
            </p:cNvPr>
            <p:cNvSpPr/>
            <p:nvPr userDrawn="1"/>
          </p:nvSpPr>
          <p:spPr>
            <a:xfrm flipH="1">
              <a:off x="11616855" y="6414247"/>
              <a:ext cx="127219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4" name="Rectángulo 33">
              <a:extLst>
                <a:ext uri="{FF2B5EF4-FFF2-40B4-BE49-F238E27FC236}">
                  <a16:creationId xmlns:a16="http://schemas.microsoft.com/office/drawing/2014/main" id="{D7D615E7-49DD-2424-6784-40E0BFFA30F5}"/>
                </a:ext>
              </a:extLst>
            </p:cNvPr>
            <p:cNvSpPr/>
            <p:nvPr userDrawn="1"/>
          </p:nvSpPr>
          <p:spPr>
            <a:xfrm flipH="1">
              <a:off x="11791784" y="6414247"/>
              <a:ext cx="130200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5" name="Rectángulo 34">
              <a:extLst>
                <a:ext uri="{FF2B5EF4-FFF2-40B4-BE49-F238E27FC236}">
                  <a16:creationId xmlns:a16="http://schemas.microsoft.com/office/drawing/2014/main" id="{5224C9B4-00D7-0D34-A96C-B039D63B9662}"/>
                </a:ext>
              </a:extLst>
            </p:cNvPr>
            <p:cNvSpPr/>
            <p:nvPr userDrawn="1"/>
          </p:nvSpPr>
          <p:spPr>
            <a:xfrm flipH="1">
              <a:off x="11962905" y="6414247"/>
              <a:ext cx="138979" cy="50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</p:spTree>
    <p:extLst>
      <p:ext uri="{BB962C8B-B14F-4D97-AF65-F5344CB8AC3E}">
        <p14:creationId xmlns:p14="http://schemas.microsoft.com/office/powerpoint/2010/main" val="1617271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D7B52A0-27B6-552F-29AB-86098E209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DE2AEB1-7813-7B19-5F83-FA8BBDDA2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8DF19E-5F6D-A60F-569F-D4B8C2ED5E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D5D83-F3A4-4E5E-BD3D-885D17711F7F}" type="datetimeFigureOut">
              <a:rPr lang="es-PE" smtClean="0"/>
              <a:t>4/03/2026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5A0A96-6D6F-BB91-9120-C3DBB6A65D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07CED3-116F-2306-88B2-F36E760AF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39276B-0852-47F6-A4C5-2AC5CD00679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3943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  <p:sldLayoutId id="2147483662" r:id="rId12"/>
    <p:sldLayoutId id="2147483661" r:id="rId13"/>
    <p:sldLayoutId id="214748365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Layout" Target="../slideLayouts/slideLayout4.xml"/><Relationship Id="rId1" Type="http://schemas.openxmlformats.org/officeDocument/2006/relationships/video" Target="https://www.youtube.com/embed/97f0Q2lzhoM" TargetMode="External"/><Relationship Id="rId4" Type="http://schemas.openxmlformats.org/officeDocument/2006/relationships/hyperlink" Target="https://www.youtube.com/watch?v=97f0Q2lzhoM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E173452-1854-A55F-B75E-E3C6989BA25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69" y="702505"/>
            <a:ext cx="1540064" cy="469651"/>
          </a:xfrm>
          <a:prstGeom prst="rect">
            <a:avLst/>
          </a:prstGeom>
        </p:spPr>
      </p:pic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3EA202D7-D504-869D-A913-13E96377AEB9}"/>
              </a:ext>
            </a:extLst>
          </p:cNvPr>
          <p:cNvCxnSpPr>
            <a:cxnSpLocks/>
          </p:cNvCxnSpPr>
          <p:nvPr/>
        </p:nvCxnSpPr>
        <p:spPr>
          <a:xfrm>
            <a:off x="2471736" y="565855"/>
            <a:ext cx="0" cy="742950"/>
          </a:xfrm>
          <a:prstGeom prst="straightConnector1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E7B31ACF-9798-647A-AD39-6BD6725FE105}"/>
              </a:ext>
            </a:extLst>
          </p:cNvPr>
          <p:cNvSpPr txBox="1"/>
          <p:nvPr/>
        </p:nvSpPr>
        <p:spPr>
          <a:xfrm>
            <a:off x="2613494" y="675720"/>
            <a:ext cx="1803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Programa de </a:t>
            </a:r>
          </a:p>
          <a:p>
            <a:r>
              <a:rPr lang="es-ES_tradnl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Ingeniería de Sistemas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27F1BEE-AC37-86DF-AC3A-ED8088790D4D}"/>
              </a:ext>
            </a:extLst>
          </p:cNvPr>
          <p:cNvSpPr/>
          <p:nvPr/>
        </p:nvSpPr>
        <p:spPr>
          <a:xfrm>
            <a:off x="874713" y="2418912"/>
            <a:ext cx="2948255" cy="14764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02C519D-1FDE-7580-3CDA-7174DC79780E}"/>
              </a:ext>
            </a:extLst>
          </p:cNvPr>
          <p:cNvSpPr txBox="1"/>
          <p:nvPr/>
        </p:nvSpPr>
        <p:spPr>
          <a:xfrm>
            <a:off x="874714" y="2423004"/>
            <a:ext cx="294825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3200" b="1" dirty="0">
                <a:solidFill>
                  <a:srgbClr val="6C0E1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Práctica</a:t>
            </a:r>
          </a:p>
          <a:p>
            <a:r>
              <a:rPr lang="es-ES_tradnl" sz="3200" b="1" dirty="0" err="1">
                <a:solidFill>
                  <a:srgbClr val="6C0E1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Preprofesional</a:t>
            </a:r>
            <a:r>
              <a:rPr lang="es-ES_tradnl" sz="3200" b="1" dirty="0">
                <a:solidFill>
                  <a:srgbClr val="6C0E1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Terminal I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3582A60-C8C7-93E7-19C1-0C126BC1729B}"/>
              </a:ext>
            </a:extLst>
          </p:cNvPr>
          <p:cNvSpPr txBox="1"/>
          <p:nvPr/>
        </p:nvSpPr>
        <p:spPr>
          <a:xfrm>
            <a:off x="1044076" y="3996352"/>
            <a:ext cx="15694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Sesión 1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04384F0-A790-6E10-1FBA-C131985987D4}"/>
              </a:ext>
            </a:extLst>
          </p:cNvPr>
          <p:cNvSpPr txBox="1"/>
          <p:nvPr/>
        </p:nvSpPr>
        <p:spPr>
          <a:xfrm>
            <a:off x="815169" y="4665968"/>
            <a:ext cx="348250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Tema:</a:t>
            </a:r>
          </a:p>
          <a:p>
            <a:r>
              <a:rPr lang="es-MX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Conceptos sobre Prácticas Pre Profesionales: Definición, ley de modalidades formativas y documentos normativos</a:t>
            </a:r>
            <a:endParaRPr lang="es-ES_tradnl" sz="20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7349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4BAC766-683D-2238-8C5A-7DD7D48F3DBF}"/>
              </a:ext>
            </a:extLst>
          </p:cNvPr>
          <p:cNvSpPr txBox="1"/>
          <p:nvPr/>
        </p:nvSpPr>
        <p:spPr>
          <a:xfrm>
            <a:off x="1044075" y="4060148"/>
            <a:ext cx="32089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Resultado de aprendizaje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A7B9964-A350-7C70-5540-107AF666EDF8}"/>
              </a:ext>
            </a:extLst>
          </p:cNvPr>
          <p:cNvSpPr txBox="1"/>
          <p:nvPr/>
        </p:nvSpPr>
        <p:spPr>
          <a:xfrm>
            <a:off x="1044075" y="4804433"/>
            <a:ext cx="43572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Formula la iniciación del proyecto, analiza y comprende los procesos empresariales.</a:t>
            </a:r>
            <a:endParaRPr lang="es-ES_tradnl" sz="16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7022906E-705C-2B42-1EC2-5D331E6221D6}"/>
              </a:ext>
            </a:extLst>
          </p:cNvPr>
          <p:cNvCxnSpPr>
            <a:cxnSpLocks/>
          </p:cNvCxnSpPr>
          <p:nvPr/>
        </p:nvCxnSpPr>
        <p:spPr>
          <a:xfrm>
            <a:off x="954126" y="4000173"/>
            <a:ext cx="0" cy="545148"/>
          </a:xfrm>
          <a:prstGeom prst="straightConnector1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51627714-A1E4-5801-30D9-6965623F15E5}"/>
              </a:ext>
            </a:extLst>
          </p:cNvPr>
          <p:cNvSpPr txBox="1"/>
          <p:nvPr/>
        </p:nvSpPr>
        <p:spPr>
          <a:xfrm>
            <a:off x="6790660" y="4000173"/>
            <a:ext cx="32089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Evidencia de aprendizaje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F30AAB8-3B60-8BBC-B011-7C8C56767996}"/>
              </a:ext>
            </a:extLst>
          </p:cNvPr>
          <p:cNvSpPr txBox="1"/>
          <p:nvPr/>
        </p:nvSpPr>
        <p:spPr>
          <a:xfrm>
            <a:off x="6790660" y="4744458"/>
            <a:ext cx="43572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Practica Calificada sobre conceptos y documentos normativos de PPP (PC).</a:t>
            </a:r>
            <a:endParaRPr lang="es-ES_tradnl" sz="16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E8395880-ED40-8894-CDF4-8D71112AEF50}"/>
              </a:ext>
            </a:extLst>
          </p:cNvPr>
          <p:cNvCxnSpPr>
            <a:cxnSpLocks/>
          </p:cNvCxnSpPr>
          <p:nvPr/>
        </p:nvCxnSpPr>
        <p:spPr>
          <a:xfrm>
            <a:off x="6700711" y="3940198"/>
            <a:ext cx="0" cy="545148"/>
          </a:xfrm>
          <a:prstGeom prst="straightConnector1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6542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42BFE40-0CB2-71A6-5F73-44B70823BBA8}"/>
              </a:ext>
            </a:extLst>
          </p:cNvPr>
          <p:cNvSpPr txBox="1"/>
          <p:nvPr/>
        </p:nvSpPr>
        <p:spPr>
          <a:xfrm>
            <a:off x="5520381" y="1965535"/>
            <a:ext cx="32089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Conceptos Básicos sobre PPP</a:t>
            </a:r>
          </a:p>
        </p:txBody>
      </p: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2C58D04B-DE95-9313-0FAD-72AA0D2C5532}"/>
              </a:ext>
            </a:extLst>
          </p:cNvPr>
          <p:cNvCxnSpPr>
            <a:cxnSpLocks/>
          </p:cNvCxnSpPr>
          <p:nvPr/>
        </p:nvCxnSpPr>
        <p:spPr>
          <a:xfrm>
            <a:off x="5430432" y="1905560"/>
            <a:ext cx="0" cy="545148"/>
          </a:xfrm>
          <a:prstGeom prst="straightConnector1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4E6CF3C2-DDFF-3DC6-3D4A-F2A15DD426E2}"/>
              </a:ext>
            </a:extLst>
          </p:cNvPr>
          <p:cNvSpPr txBox="1"/>
          <p:nvPr/>
        </p:nvSpPr>
        <p:spPr>
          <a:xfrm>
            <a:off x="5647974" y="2751621"/>
            <a:ext cx="2636490" cy="2633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Definición de Prácticas Pre Profesionales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Ley de modalidades formativas.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Documentos Normativos de las Prácticas Pre Profesionales en la UCV.</a:t>
            </a:r>
            <a:endParaRPr lang="es-ES_tradnl" sz="16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2314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5DA1B89-6C7D-58DD-CC62-FD1DC6F97006}"/>
              </a:ext>
            </a:extLst>
          </p:cNvPr>
          <p:cNvSpPr txBox="1"/>
          <p:nvPr/>
        </p:nvSpPr>
        <p:spPr>
          <a:xfrm>
            <a:off x="959775" y="838484"/>
            <a:ext cx="261276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36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Revisa el siguiente video:</a:t>
            </a:r>
          </a:p>
        </p:txBody>
      </p:sp>
      <p:pic>
        <p:nvPicPr>
          <p:cNvPr id="3" name="97f0Q2lzhoM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4476929" y="2023645"/>
            <a:ext cx="5941568" cy="3342132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377043A-8A31-8FE1-9EC6-278384A7D93A}"/>
              </a:ext>
            </a:extLst>
          </p:cNvPr>
          <p:cNvSpPr txBox="1"/>
          <p:nvPr/>
        </p:nvSpPr>
        <p:spPr>
          <a:xfrm>
            <a:off x="4290652" y="5365777"/>
            <a:ext cx="6876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600" dirty="0">
                <a:latin typeface="Roboto" panose="02000000000000000000" pitchFamily="2" charset="0"/>
                <a:ea typeface="Roboto" panose="02000000000000000000" pitchFamily="2" charset="0"/>
                <a:hlinkClick r:id="rId4"/>
              </a:rPr>
              <a:t>https://www.youtube.com/watch?v=97f0Q2lzhoM</a:t>
            </a:r>
            <a:endParaRPr lang="es-ES_tradnl" sz="16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9436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DEBD99B-CA10-6501-17AA-200A12475B0F}"/>
              </a:ext>
            </a:extLst>
          </p:cNvPr>
          <p:cNvSpPr txBox="1"/>
          <p:nvPr/>
        </p:nvSpPr>
        <p:spPr>
          <a:xfrm>
            <a:off x="959775" y="983665"/>
            <a:ext cx="54552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Después de haber visualizado el video en la  </a:t>
            </a:r>
            <a:r>
              <a:rPr lang="es-ES_tradnl" sz="20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slide</a:t>
            </a:r>
            <a:r>
              <a:rPr lang="es-ES_tradnl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anterior, </a:t>
            </a:r>
            <a:r>
              <a:rPr lang="es-ES_tradnl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reflexionamos y respondemos las siguientes interrogantes: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064DD55-C896-6B6D-3790-1270E619F80F}"/>
              </a:ext>
            </a:extLst>
          </p:cNvPr>
          <p:cNvSpPr/>
          <p:nvPr/>
        </p:nvSpPr>
        <p:spPr>
          <a:xfrm>
            <a:off x="1406340" y="2854847"/>
            <a:ext cx="603213" cy="5851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EAA196C-01C9-8837-184B-9C4C844F7203}"/>
              </a:ext>
            </a:extLst>
          </p:cNvPr>
          <p:cNvSpPr txBox="1"/>
          <p:nvPr/>
        </p:nvSpPr>
        <p:spPr>
          <a:xfrm>
            <a:off x="1427606" y="2907604"/>
            <a:ext cx="603213" cy="479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2400" b="1" dirty="0">
                <a:solidFill>
                  <a:srgbClr val="6C0E1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3DD2F94-3CBD-0930-090B-95F1DF353AF2}"/>
              </a:ext>
            </a:extLst>
          </p:cNvPr>
          <p:cNvSpPr txBox="1"/>
          <p:nvPr/>
        </p:nvSpPr>
        <p:spPr>
          <a:xfrm>
            <a:off x="2132142" y="2901459"/>
            <a:ext cx="42828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¿Qué modalidades formativas laborales existen?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8461466-9DA5-4FB2-909A-9C25612F7BC6}"/>
              </a:ext>
            </a:extLst>
          </p:cNvPr>
          <p:cNvSpPr/>
          <p:nvPr/>
        </p:nvSpPr>
        <p:spPr>
          <a:xfrm>
            <a:off x="1406340" y="3970851"/>
            <a:ext cx="603213" cy="5851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5A2B4B7-6C83-1933-76A1-7BBE3229EEC4}"/>
              </a:ext>
            </a:extLst>
          </p:cNvPr>
          <p:cNvSpPr txBox="1"/>
          <p:nvPr/>
        </p:nvSpPr>
        <p:spPr>
          <a:xfrm>
            <a:off x="1427606" y="4023608"/>
            <a:ext cx="603213" cy="479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2400" b="1" dirty="0">
                <a:solidFill>
                  <a:srgbClr val="6C0E1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02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7D0AD6D-A61C-0E04-AD73-EFD00C1E220B}"/>
              </a:ext>
            </a:extLst>
          </p:cNvPr>
          <p:cNvSpPr txBox="1"/>
          <p:nvPr/>
        </p:nvSpPr>
        <p:spPr>
          <a:xfrm>
            <a:off x="2132142" y="4017463"/>
            <a:ext cx="42828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¿Cuáles son los objetivos de la práctica </a:t>
            </a:r>
            <a:r>
              <a:rPr lang="es-ES_tradnl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preprofesional</a:t>
            </a:r>
            <a:r>
              <a:rPr lang="es-ES_tradnl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?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E1E2E55-5630-8CBE-4B3F-A3EF05A3690A}"/>
              </a:ext>
            </a:extLst>
          </p:cNvPr>
          <p:cNvSpPr/>
          <p:nvPr/>
        </p:nvSpPr>
        <p:spPr>
          <a:xfrm>
            <a:off x="1406340" y="5080712"/>
            <a:ext cx="603213" cy="5851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25BE3D0-7AC9-2014-C999-A66E51F44249}"/>
              </a:ext>
            </a:extLst>
          </p:cNvPr>
          <p:cNvSpPr txBox="1"/>
          <p:nvPr/>
        </p:nvSpPr>
        <p:spPr>
          <a:xfrm>
            <a:off x="1427606" y="5133469"/>
            <a:ext cx="603213" cy="479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2400" b="1" dirty="0">
                <a:solidFill>
                  <a:srgbClr val="6C0E1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03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15BF9BB-FF98-1CE9-F06D-C525B5C2982C}"/>
              </a:ext>
            </a:extLst>
          </p:cNvPr>
          <p:cNvSpPr txBox="1"/>
          <p:nvPr/>
        </p:nvSpPr>
        <p:spPr>
          <a:xfrm>
            <a:off x="2132142" y="5127324"/>
            <a:ext cx="42828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¿Qué aporta al estudiante la práctica </a:t>
            </a:r>
            <a:r>
              <a:rPr lang="es-ES_tradnl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preprofesional</a:t>
            </a:r>
            <a:r>
              <a:rPr lang="es-ES_tradnl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?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D67D664B-E9A2-04BE-8CC2-BDD310126989}"/>
              </a:ext>
            </a:extLst>
          </p:cNvPr>
          <p:cNvCxnSpPr>
            <a:cxnSpLocks/>
          </p:cNvCxnSpPr>
          <p:nvPr/>
        </p:nvCxnSpPr>
        <p:spPr>
          <a:xfrm>
            <a:off x="874713" y="884835"/>
            <a:ext cx="0" cy="1220412"/>
          </a:xfrm>
          <a:prstGeom prst="straightConnector1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3906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7EC166C-6FEE-95D7-613D-FA7F366693B6}"/>
              </a:ext>
            </a:extLst>
          </p:cNvPr>
          <p:cNvSpPr txBox="1"/>
          <p:nvPr/>
        </p:nvSpPr>
        <p:spPr>
          <a:xfrm>
            <a:off x="8959175" y="4528242"/>
            <a:ext cx="19770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Práctica </a:t>
            </a:r>
            <a:r>
              <a:rPr lang="es-ES_tradnl" sz="20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Preprofesional</a:t>
            </a:r>
            <a:r>
              <a:rPr lang="es-ES_tradnl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en la UCV</a:t>
            </a:r>
          </a:p>
        </p:txBody>
      </p:sp>
    </p:spTree>
    <p:extLst>
      <p:ext uri="{BB962C8B-B14F-4D97-AF65-F5344CB8AC3E}">
        <p14:creationId xmlns:p14="http://schemas.microsoft.com/office/powerpoint/2010/main" val="333857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4390B97-38DD-DA76-EE22-379551E20F49}"/>
              </a:ext>
            </a:extLst>
          </p:cNvPr>
          <p:cNvSpPr txBox="1"/>
          <p:nvPr/>
        </p:nvSpPr>
        <p:spPr>
          <a:xfrm rot="16200000">
            <a:off x="-1601291" y="2295506"/>
            <a:ext cx="37717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Práctica </a:t>
            </a:r>
            <a:r>
              <a:rPr lang="es-ES_tradnl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Preprofesional</a:t>
            </a:r>
            <a:r>
              <a:rPr lang="es-ES_tradnl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Terminal I – Sesión 1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C830C38-C32A-3116-4D61-02BCF14DFE8E}"/>
              </a:ext>
            </a:extLst>
          </p:cNvPr>
          <p:cNvSpPr txBox="1"/>
          <p:nvPr/>
        </p:nvSpPr>
        <p:spPr>
          <a:xfrm>
            <a:off x="1745824" y="923545"/>
            <a:ext cx="52127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b="1" dirty="0">
                <a:solidFill>
                  <a:srgbClr val="6C0E1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Ley 28518: Modalidades Formativas Laborales</a:t>
            </a: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F3D9AB27-67F1-E7F3-803C-FAA1B27673A4}"/>
              </a:ext>
            </a:extLst>
          </p:cNvPr>
          <p:cNvCxnSpPr>
            <a:cxnSpLocks/>
          </p:cNvCxnSpPr>
          <p:nvPr/>
        </p:nvCxnSpPr>
        <p:spPr>
          <a:xfrm>
            <a:off x="1655875" y="863570"/>
            <a:ext cx="0" cy="545148"/>
          </a:xfrm>
          <a:prstGeom prst="straightConnector1">
            <a:avLst/>
          </a:prstGeom>
          <a:ln w="38100">
            <a:solidFill>
              <a:srgbClr val="6C0E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7D91D40B-CCA2-6D35-AB96-77251C24F2AB}"/>
              </a:ext>
            </a:extLst>
          </p:cNvPr>
          <p:cNvSpPr txBox="1"/>
          <p:nvPr/>
        </p:nvSpPr>
        <p:spPr>
          <a:xfrm>
            <a:off x="1745824" y="1784885"/>
            <a:ext cx="799253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La persona es el centro fundamental de todo proceso formativo; en consecuencia, las modalidades formativas que se desarrollen deben fijarse como </a:t>
            </a:r>
            <a:r>
              <a:rPr lang="es-PE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meta principal que la persona alcance a comprender </a:t>
            </a:r>
            <a:r>
              <a:rPr lang="es-ES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su medio social en general y su medio de trabajo en particular, a fin de que esté en condiciones de incidir en estos de manera individual y colectiva.</a:t>
            </a:r>
          </a:p>
          <a:p>
            <a:pPr algn="just"/>
            <a:endParaRPr lang="es-ES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s-ES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Toda persona tiene derecho de acceder en igualdad y sin discriminación alguna a la formación profesional y que su participación en las diversas </a:t>
            </a:r>
            <a:r>
              <a:rPr lang="es-PE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modalidades formativas aprobadas le permita </a:t>
            </a:r>
            <a:r>
              <a:rPr lang="es-ES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mejorar su empleabilidad en el mercado laboral.</a:t>
            </a:r>
          </a:p>
          <a:p>
            <a:pPr algn="just"/>
            <a:endParaRPr lang="es-ES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s-ES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Resulta imprescindible que la formación recibida se complemente con una adecuada experiencia práctica en el seno de la empresa, </a:t>
            </a:r>
            <a:r>
              <a:rPr lang="es-PE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debidamente programada por las partes </a:t>
            </a:r>
            <a:r>
              <a:rPr lang="es-ES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intervinientes en las modalidades formativas aprobadas, confirmando así la necesidad del principio de Adecuación a la Realidad del proceso formativo para asegurar su calidad y pertinencia.</a:t>
            </a:r>
            <a:endParaRPr lang="es-P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0095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4390B97-38DD-DA76-EE22-379551E20F49}"/>
              </a:ext>
            </a:extLst>
          </p:cNvPr>
          <p:cNvSpPr txBox="1"/>
          <p:nvPr/>
        </p:nvSpPr>
        <p:spPr>
          <a:xfrm rot="16200000">
            <a:off x="-1601291" y="2295506"/>
            <a:ext cx="37717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Práctica </a:t>
            </a:r>
            <a:r>
              <a:rPr lang="es-ES_tradnl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Preprofesional</a:t>
            </a:r>
            <a:r>
              <a:rPr lang="es-ES_tradnl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Terminal I – Sesión 1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C830C38-C32A-3116-4D61-02BCF14DFE8E}"/>
              </a:ext>
            </a:extLst>
          </p:cNvPr>
          <p:cNvSpPr txBox="1"/>
          <p:nvPr/>
        </p:nvSpPr>
        <p:spPr>
          <a:xfrm>
            <a:off x="1745824" y="923545"/>
            <a:ext cx="6017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b="1" dirty="0">
                <a:solidFill>
                  <a:srgbClr val="6C0E1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Objetivos de la Ley de Modalidades Formativas Laborales</a:t>
            </a: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F3D9AB27-67F1-E7F3-803C-FAA1B27673A4}"/>
              </a:ext>
            </a:extLst>
          </p:cNvPr>
          <p:cNvCxnSpPr>
            <a:cxnSpLocks/>
          </p:cNvCxnSpPr>
          <p:nvPr/>
        </p:nvCxnSpPr>
        <p:spPr>
          <a:xfrm>
            <a:off x="1655875" y="863570"/>
            <a:ext cx="0" cy="545148"/>
          </a:xfrm>
          <a:prstGeom prst="straightConnector1">
            <a:avLst/>
          </a:prstGeom>
          <a:ln w="38100">
            <a:solidFill>
              <a:srgbClr val="6C0E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7D91D40B-CCA2-6D35-AB96-77251C24F2AB}"/>
              </a:ext>
            </a:extLst>
          </p:cNvPr>
          <p:cNvSpPr txBox="1"/>
          <p:nvPr/>
        </p:nvSpPr>
        <p:spPr>
          <a:xfrm>
            <a:off x="1745824" y="1784885"/>
            <a:ext cx="799253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a. Coadyuvar a una adecuada y eficaz interconexión entre la oferta formativa y la demanda en el mercado de trabajo;</a:t>
            </a:r>
          </a:p>
          <a:p>
            <a:pPr algn="just"/>
            <a:endParaRPr lang="es-ES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s-ES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b. Fomentar la formación y capacitación laboral vinculada a los procesos productivos y de servicios, como un mecanismo de mejoramiento de la empleabilidad y de la productividad laboral y,</a:t>
            </a:r>
          </a:p>
          <a:p>
            <a:pPr algn="just"/>
            <a:endParaRPr lang="es-ES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s-ES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c. Proporcionar una formación que desarrolle capacidades para el trabajo, que permitan la flexibilidad y favorezcan la adaptación de los beneficiarios de la formación a diferentes situaciones laborales.</a:t>
            </a:r>
            <a:endParaRPr lang="es-P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0997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4390B97-38DD-DA76-EE22-379551E20F49}"/>
              </a:ext>
            </a:extLst>
          </p:cNvPr>
          <p:cNvSpPr txBox="1"/>
          <p:nvPr/>
        </p:nvSpPr>
        <p:spPr>
          <a:xfrm rot="16200000">
            <a:off x="-1601291" y="2295506"/>
            <a:ext cx="37717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Práctica </a:t>
            </a:r>
            <a:r>
              <a:rPr lang="es-ES_tradnl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Preprofesional</a:t>
            </a:r>
            <a:r>
              <a:rPr lang="es-ES_tradnl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Terminal I – Sesión 1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C830C38-C32A-3116-4D61-02BCF14DFE8E}"/>
              </a:ext>
            </a:extLst>
          </p:cNvPr>
          <p:cNvSpPr txBox="1"/>
          <p:nvPr/>
        </p:nvSpPr>
        <p:spPr>
          <a:xfrm>
            <a:off x="1745824" y="923545"/>
            <a:ext cx="6017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b="1" dirty="0">
                <a:solidFill>
                  <a:srgbClr val="6C0E1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Modalidades Formativas</a:t>
            </a: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F3D9AB27-67F1-E7F3-803C-FAA1B27673A4}"/>
              </a:ext>
            </a:extLst>
          </p:cNvPr>
          <p:cNvCxnSpPr>
            <a:cxnSpLocks/>
          </p:cNvCxnSpPr>
          <p:nvPr/>
        </p:nvCxnSpPr>
        <p:spPr>
          <a:xfrm>
            <a:off x="1655875" y="863570"/>
            <a:ext cx="0" cy="545148"/>
          </a:xfrm>
          <a:prstGeom prst="straightConnector1">
            <a:avLst/>
          </a:prstGeom>
          <a:ln w="38100">
            <a:solidFill>
              <a:srgbClr val="6C0E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7D91D40B-CCA2-6D35-AB96-77251C24F2AB}"/>
              </a:ext>
            </a:extLst>
          </p:cNvPr>
          <p:cNvSpPr txBox="1"/>
          <p:nvPr/>
        </p:nvSpPr>
        <p:spPr>
          <a:xfrm>
            <a:off x="1745824" y="1784885"/>
            <a:ext cx="812969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Las modalidades formativas son tipos especiales de convenios que relacionan el aprendizaje teórico y práctico mediante el desempeño de tareas programadas de capacitación y formación </a:t>
            </a:r>
            <a:r>
              <a:rPr lang="es-PE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profesional.</a:t>
            </a:r>
          </a:p>
          <a:p>
            <a:pPr algn="just"/>
            <a:endParaRPr lang="es-P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s-ES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Una de las modalidades es el aprendizaje con predominio en el Centro de Formación Profesional, es decir las </a:t>
            </a:r>
            <a:r>
              <a:rPr lang="es-PE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Prácticas </a:t>
            </a:r>
            <a:r>
              <a:rPr lang="es-PE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Preprofesionales</a:t>
            </a:r>
            <a:r>
              <a:rPr lang="es-PE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 Esta </a:t>
            </a:r>
            <a:r>
              <a:rPr lang="es-ES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modalidad que permite a la persona en formación durante su condición de estudiante aplicar sus conocimientos, habilidades y aptitudes mediante el desempeño en una situación real de </a:t>
            </a:r>
            <a:r>
              <a:rPr lang="es-PE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trabajo.</a:t>
            </a:r>
          </a:p>
          <a:p>
            <a:pPr algn="just"/>
            <a:endParaRPr lang="es-ES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s-ES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 realiza mediante un </a:t>
            </a:r>
            <a:r>
              <a:rPr lang="es-PE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Convenio de Aprendizaje que se celebra entre:</a:t>
            </a:r>
          </a:p>
          <a:p>
            <a:pPr algn="just"/>
            <a:r>
              <a:rPr lang="es-PE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1. Una empresa.</a:t>
            </a:r>
          </a:p>
          <a:p>
            <a:pPr algn="just"/>
            <a:r>
              <a:rPr lang="es-ES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2. Una persona en formación y</a:t>
            </a:r>
          </a:p>
          <a:p>
            <a:pPr algn="just"/>
            <a:r>
              <a:rPr lang="es-ES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3. Un Centro de Formación Profesional.</a:t>
            </a:r>
          </a:p>
          <a:p>
            <a:pPr algn="just"/>
            <a:r>
              <a:rPr lang="es-ES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 tiempo de duración del convenio es proporcional a la duración de la formación y al nivel de la calificación de la ocupación</a:t>
            </a:r>
            <a:endParaRPr lang="es-P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endParaRPr lang="es-P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endParaRPr lang="es-P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896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4390B97-38DD-DA76-EE22-379551E20F49}"/>
              </a:ext>
            </a:extLst>
          </p:cNvPr>
          <p:cNvSpPr txBox="1"/>
          <p:nvPr/>
        </p:nvSpPr>
        <p:spPr>
          <a:xfrm rot="16200000">
            <a:off x="-1601291" y="2295506"/>
            <a:ext cx="37717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Práctica </a:t>
            </a:r>
            <a:r>
              <a:rPr lang="es-ES_tradnl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Preprofesional</a:t>
            </a:r>
            <a:r>
              <a:rPr lang="es-ES_tradnl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Terminal I – Sesión 1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C830C38-C32A-3116-4D61-02BCF14DFE8E}"/>
              </a:ext>
            </a:extLst>
          </p:cNvPr>
          <p:cNvSpPr txBox="1"/>
          <p:nvPr/>
        </p:nvSpPr>
        <p:spPr>
          <a:xfrm>
            <a:off x="1745824" y="923545"/>
            <a:ext cx="6017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b="1" dirty="0">
                <a:solidFill>
                  <a:srgbClr val="6C0E1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Obligaciones del Practicante</a:t>
            </a: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F3D9AB27-67F1-E7F3-803C-FAA1B27673A4}"/>
              </a:ext>
            </a:extLst>
          </p:cNvPr>
          <p:cNvCxnSpPr>
            <a:cxnSpLocks/>
          </p:cNvCxnSpPr>
          <p:nvPr/>
        </p:nvCxnSpPr>
        <p:spPr>
          <a:xfrm>
            <a:off x="1655875" y="863570"/>
            <a:ext cx="0" cy="545148"/>
          </a:xfrm>
          <a:prstGeom prst="straightConnector1">
            <a:avLst/>
          </a:prstGeom>
          <a:ln w="38100">
            <a:solidFill>
              <a:srgbClr val="6C0E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7D91D40B-CCA2-6D35-AB96-77251C24F2AB}"/>
              </a:ext>
            </a:extLst>
          </p:cNvPr>
          <p:cNvSpPr txBox="1"/>
          <p:nvPr/>
        </p:nvSpPr>
        <p:spPr>
          <a:xfrm>
            <a:off x="1745824" y="1784885"/>
            <a:ext cx="81296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1. Obligarse a acatar las disposiciones </a:t>
            </a:r>
            <a:r>
              <a:rPr lang="es-PE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formativas que le asigne la empresa.</a:t>
            </a:r>
          </a:p>
          <a:p>
            <a:r>
              <a:rPr lang="es-ES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2. Cumplir con diligencia las obligaciones </a:t>
            </a:r>
            <a:r>
              <a:rPr lang="es-PE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convenidas.</a:t>
            </a:r>
          </a:p>
          <a:p>
            <a:r>
              <a:rPr lang="es-ES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3. Observar las normas y reglamentos que rijan en el centro de trabajo.</a:t>
            </a:r>
          </a:p>
          <a:p>
            <a:r>
              <a:rPr lang="es-ES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4. Cumplir con el desarrollo del programa que </a:t>
            </a:r>
            <a:r>
              <a:rPr lang="es-PE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aplique la empresa</a:t>
            </a:r>
          </a:p>
        </p:txBody>
      </p:sp>
    </p:spTree>
    <p:extLst>
      <p:ext uri="{BB962C8B-B14F-4D97-AF65-F5344CB8AC3E}">
        <p14:creationId xmlns:p14="http://schemas.microsoft.com/office/powerpoint/2010/main" val="1395929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4390B97-38DD-DA76-EE22-379551E20F49}"/>
              </a:ext>
            </a:extLst>
          </p:cNvPr>
          <p:cNvSpPr txBox="1"/>
          <p:nvPr/>
        </p:nvSpPr>
        <p:spPr>
          <a:xfrm rot="16200000">
            <a:off x="-1601291" y="2295506"/>
            <a:ext cx="37717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Práctica </a:t>
            </a:r>
            <a:r>
              <a:rPr lang="es-ES_tradnl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Preprofesional</a:t>
            </a:r>
            <a:r>
              <a:rPr lang="es-ES_tradnl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Terminal I – Sesión 1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C830C38-C32A-3116-4D61-02BCF14DFE8E}"/>
              </a:ext>
            </a:extLst>
          </p:cNvPr>
          <p:cNvSpPr txBox="1"/>
          <p:nvPr/>
        </p:nvSpPr>
        <p:spPr>
          <a:xfrm>
            <a:off x="1745824" y="923545"/>
            <a:ext cx="6017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b="1" dirty="0">
                <a:solidFill>
                  <a:srgbClr val="6C0E1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Obligaciones de la Empresa</a:t>
            </a: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F3D9AB27-67F1-E7F3-803C-FAA1B27673A4}"/>
              </a:ext>
            </a:extLst>
          </p:cNvPr>
          <p:cNvCxnSpPr>
            <a:cxnSpLocks/>
          </p:cNvCxnSpPr>
          <p:nvPr/>
        </p:nvCxnSpPr>
        <p:spPr>
          <a:xfrm>
            <a:off x="1655875" y="863570"/>
            <a:ext cx="0" cy="545148"/>
          </a:xfrm>
          <a:prstGeom prst="straightConnector1">
            <a:avLst/>
          </a:prstGeom>
          <a:ln w="38100">
            <a:solidFill>
              <a:srgbClr val="6C0E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7D91D40B-CCA2-6D35-AB96-77251C24F2AB}"/>
              </a:ext>
            </a:extLst>
          </p:cNvPr>
          <p:cNvSpPr txBox="1"/>
          <p:nvPr/>
        </p:nvSpPr>
        <p:spPr>
          <a:xfrm>
            <a:off x="1745824" y="1502783"/>
            <a:ext cx="988534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Proporcionar la dirección técnica y los medios necesarios para la formación laboral en la actividad </a:t>
            </a:r>
            <a:r>
              <a:rPr lang="es-PE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materia del convenio.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Pagar puntualmente la subvención mensual </a:t>
            </a:r>
            <a:r>
              <a:rPr lang="es-PE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convenida.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Otorgar el descanso semanal y feriados no </a:t>
            </a:r>
            <a:r>
              <a:rPr lang="es-PE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laborables debidamente subvencionados.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Otorgar un descanso de quince (15) días debidamente subvencionado cuando la duración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 la modalidad formativa sea superior a doce (12) </a:t>
            </a:r>
            <a:r>
              <a:rPr lang="es-PE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meses.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Otorgar al beneficiario una subvención adicional equivalente a media subvención </a:t>
            </a:r>
            <a:r>
              <a:rPr lang="es-PE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económica mensual cada seis meses de duración </a:t>
            </a:r>
            <a:r>
              <a:rPr lang="es-ES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continua de la modalidad formativa.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No cobrar suma alguna por la formación.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Cubrir los riesgos de enfermedad y accidentes a través de </a:t>
            </a:r>
            <a:r>
              <a:rPr lang="es-ES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EsSalud</a:t>
            </a:r>
            <a:r>
              <a:rPr lang="es-ES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o de un seguro privado con una c</a:t>
            </a:r>
            <a:r>
              <a:rPr lang="es-PE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obertura equivalente a catorce (14) subvenciones </a:t>
            </a:r>
            <a:r>
              <a:rPr lang="es-ES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mensuales en caso de enfermedad y treinta (30) </a:t>
            </a:r>
            <a:r>
              <a:rPr lang="es-PE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por accidente.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Brindar las facilidades para que la persona en formación que desee se afilie facultativamente a un </a:t>
            </a:r>
            <a:r>
              <a:rPr lang="es-PE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sistema pensionario.</a:t>
            </a:r>
          </a:p>
          <a:p>
            <a:pPr marL="342900" indent="-342900">
              <a:buFont typeface="+mj-lt"/>
              <a:buAutoNum type="arabicPeriod"/>
            </a:pPr>
            <a:r>
              <a:rPr lang="es-PE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Emitir, cuando corresponda, los informes </a:t>
            </a:r>
            <a:r>
              <a:rPr lang="es-ES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que requiera el Centro de Formación Profesional en que cursa estudios el aprendiz, practicante, </a:t>
            </a:r>
            <a:r>
              <a:rPr lang="es-PE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pasante o beneficiario.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Otorgar el respectivo certificado al término del período de la formación que precise las capacidades adquiridas y verificadas en el desempeño efectivo de las labores dentro de la empresa.</a:t>
            </a:r>
            <a:endParaRPr lang="es-P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7235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4390B97-38DD-DA76-EE22-379551E20F49}"/>
              </a:ext>
            </a:extLst>
          </p:cNvPr>
          <p:cNvSpPr txBox="1"/>
          <p:nvPr/>
        </p:nvSpPr>
        <p:spPr>
          <a:xfrm rot="16200000">
            <a:off x="-1601291" y="2295506"/>
            <a:ext cx="37717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Práctica </a:t>
            </a:r>
            <a:r>
              <a:rPr lang="es-ES_tradnl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Preprofesional</a:t>
            </a:r>
            <a:r>
              <a:rPr lang="es-ES_tradnl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Terminal I – Sesión 1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C830C38-C32A-3116-4D61-02BCF14DFE8E}"/>
              </a:ext>
            </a:extLst>
          </p:cNvPr>
          <p:cNvSpPr txBox="1"/>
          <p:nvPr/>
        </p:nvSpPr>
        <p:spPr>
          <a:xfrm>
            <a:off x="1745824" y="923545"/>
            <a:ext cx="6017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b="1" dirty="0">
                <a:solidFill>
                  <a:srgbClr val="6C0E1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Obligaciones del Centro de Formación Profesional</a:t>
            </a: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F3D9AB27-67F1-E7F3-803C-FAA1B27673A4}"/>
              </a:ext>
            </a:extLst>
          </p:cNvPr>
          <p:cNvCxnSpPr>
            <a:cxnSpLocks/>
          </p:cNvCxnSpPr>
          <p:nvPr/>
        </p:nvCxnSpPr>
        <p:spPr>
          <a:xfrm>
            <a:off x="1655875" y="863570"/>
            <a:ext cx="0" cy="545148"/>
          </a:xfrm>
          <a:prstGeom prst="straightConnector1">
            <a:avLst/>
          </a:prstGeom>
          <a:ln w="38100">
            <a:solidFill>
              <a:srgbClr val="6C0E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7D91D40B-CCA2-6D35-AB96-77251C24F2AB}"/>
              </a:ext>
            </a:extLst>
          </p:cNvPr>
          <p:cNvSpPr txBox="1"/>
          <p:nvPr/>
        </p:nvSpPr>
        <p:spPr>
          <a:xfrm>
            <a:off x="1745824" y="1784885"/>
            <a:ext cx="835829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1. Planificar y desarrollar los programas </a:t>
            </a:r>
            <a:r>
              <a:rPr lang="es-PE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formativos que respondan a las necesidades </a:t>
            </a:r>
            <a:r>
              <a:rPr lang="es-ES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del mercado laboral con participación del Sector </a:t>
            </a:r>
            <a:r>
              <a:rPr lang="es-PE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Productivo.</a:t>
            </a:r>
          </a:p>
          <a:p>
            <a:pPr algn="just"/>
            <a:r>
              <a:rPr lang="es-ES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2. Dirigir y conducir las actividades de </a:t>
            </a:r>
            <a:r>
              <a:rPr lang="es-PE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formación, capacitación, perfeccionamiento y </a:t>
            </a:r>
            <a:r>
              <a:rPr lang="es-ES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especialización del beneficiario en coordinación </a:t>
            </a:r>
            <a:r>
              <a:rPr lang="es-PE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 la empresa.</a:t>
            </a:r>
          </a:p>
          <a:p>
            <a:pPr algn="just"/>
            <a:r>
              <a:rPr lang="es-ES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3. Supervisar, evaluar y certificar las actividades </a:t>
            </a:r>
            <a:r>
              <a:rPr lang="es-PE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formativas.</a:t>
            </a:r>
          </a:p>
          <a:p>
            <a:pPr algn="just"/>
            <a:r>
              <a:rPr lang="es-ES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4. Coordinar con la empresa el mecanismo de monitoreo y supervisión de las actividades que desarrolle el beneficiado.</a:t>
            </a:r>
            <a:endParaRPr lang="es-P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0467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4390B97-38DD-DA76-EE22-379551E20F49}"/>
              </a:ext>
            </a:extLst>
          </p:cNvPr>
          <p:cNvSpPr txBox="1"/>
          <p:nvPr/>
        </p:nvSpPr>
        <p:spPr>
          <a:xfrm rot="16200000">
            <a:off x="-1601291" y="2295506"/>
            <a:ext cx="37717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Práctica </a:t>
            </a:r>
            <a:r>
              <a:rPr lang="es-ES_tradnl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Preprofesional</a:t>
            </a:r>
            <a:r>
              <a:rPr lang="es-ES_tradnl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Terminal I – Sesión 1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C830C38-C32A-3116-4D61-02BCF14DFE8E}"/>
              </a:ext>
            </a:extLst>
          </p:cNvPr>
          <p:cNvSpPr txBox="1"/>
          <p:nvPr/>
        </p:nvSpPr>
        <p:spPr>
          <a:xfrm>
            <a:off x="1745823" y="923545"/>
            <a:ext cx="44896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b="1" dirty="0">
                <a:solidFill>
                  <a:srgbClr val="6C0E1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Práctica </a:t>
            </a:r>
            <a:r>
              <a:rPr lang="es-ES_tradnl" sz="2000" b="1" dirty="0" err="1">
                <a:solidFill>
                  <a:srgbClr val="6C0E1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Preprofesional</a:t>
            </a:r>
            <a:r>
              <a:rPr lang="es-ES_tradnl" sz="2000" b="1" dirty="0">
                <a:solidFill>
                  <a:srgbClr val="6C0E1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en la UCV</a:t>
            </a: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F3D9AB27-67F1-E7F3-803C-FAA1B27673A4}"/>
              </a:ext>
            </a:extLst>
          </p:cNvPr>
          <p:cNvCxnSpPr>
            <a:cxnSpLocks/>
          </p:cNvCxnSpPr>
          <p:nvPr/>
        </p:nvCxnSpPr>
        <p:spPr>
          <a:xfrm>
            <a:off x="1655875" y="863570"/>
            <a:ext cx="0" cy="545148"/>
          </a:xfrm>
          <a:prstGeom prst="straightConnector1">
            <a:avLst/>
          </a:prstGeom>
          <a:ln w="38100">
            <a:solidFill>
              <a:srgbClr val="6C0E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7D91D40B-CCA2-6D35-AB96-77251C24F2AB}"/>
              </a:ext>
            </a:extLst>
          </p:cNvPr>
          <p:cNvSpPr txBox="1"/>
          <p:nvPr/>
        </p:nvSpPr>
        <p:spPr>
          <a:xfrm>
            <a:off x="1745824" y="1784885"/>
            <a:ext cx="770907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La universidad considera el empleo como base del bienestar social y un medio de realización de la persona, por lo que una persona en formación, durante su condición de estudiante, debe aplicar sus conocimientos, habilidades y aptitudes mediante el desempeño en una situación real de trabajo. La Práctica </a:t>
            </a:r>
            <a:r>
              <a:rPr lang="es-ES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Preprofesional</a:t>
            </a:r>
            <a:r>
              <a:rPr lang="es-ES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consolida el desarrollo de las habilidades sociales y personales relacionadas al ámbito laboral.</a:t>
            </a:r>
          </a:p>
          <a:p>
            <a:pPr algn="just"/>
            <a:endParaRPr lang="es-P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s-PE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La Práctica </a:t>
            </a:r>
            <a:r>
              <a:rPr lang="es-PE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Preprofesional</a:t>
            </a:r>
            <a:r>
              <a:rPr lang="es-PE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es la experiencia organizada y supervisada que tiene un estudiante de Ingeniería de Sistemas en una empresa, en la cual tendrá oportunidad de aplicar los conocimientos adquiridos a lo largo de su formación académica.</a:t>
            </a:r>
          </a:p>
        </p:txBody>
      </p:sp>
    </p:spTree>
    <p:extLst>
      <p:ext uri="{BB962C8B-B14F-4D97-AF65-F5344CB8AC3E}">
        <p14:creationId xmlns:p14="http://schemas.microsoft.com/office/powerpoint/2010/main" val="38105522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4390B97-38DD-DA76-EE22-379551E20F49}"/>
              </a:ext>
            </a:extLst>
          </p:cNvPr>
          <p:cNvSpPr txBox="1"/>
          <p:nvPr/>
        </p:nvSpPr>
        <p:spPr>
          <a:xfrm rot="16200000">
            <a:off x="-1601291" y="2295506"/>
            <a:ext cx="37717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Práctica </a:t>
            </a:r>
            <a:r>
              <a:rPr lang="es-ES_tradnl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Preprofesional</a:t>
            </a:r>
            <a:r>
              <a:rPr lang="es-ES_tradnl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Terminal I – Sesión 1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C830C38-C32A-3116-4D61-02BCF14DFE8E}"/>
              </a:ext>
            </a:extLst>
          </p:cNvPr>
          <p:cNvSpPr txBox="1"/>
          <p:nvPr/>
        </p:nvSpPr>
        <p:spPr>
          <a:xfrm>
            <a:off x="1745824" y="923545"/>
            <a:ext cx="38150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b="1" dirty="0">
                <a:solidFill>
                  <a:srgbClr val="6C0E1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Propósitos de la PPP</a:t>
            </a: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F3D9AB27-67F1-E7F3-803C-FAA1B27673A4}"/>
              </a:ext>
            </a:extLst>
          </p:cNvPr>
          <p:cNvCxnSpPr>
            <a:cxnSpLocks/>
          </p:cNvCxnSpPr>
          <p:nvPr/>
        </p:nvCxnSpPr>
        <p:spPr>
          <a:xfrm>
            <a:off x="1655875" y="863570"/>
            <a:ext cx="0" cy="545148"/>
          </a:xfrm>
          <a:prstGeom prst="straightConnector1">
            <a:avLst/>
          </a:prstGeom>
          <a:ln w="38100">
            <a:solidFill>
              <a:srgbClr val="6C0E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7D91D40B-CCA2-6D35-AB96-77251C24F2AB}"/>
              </a:ext>
            </a:extLst>
          </p:cNvPr>
          <p:cNvSpPr txBox="1"/>
          <p:nvPr/>
        </p:nvSpPr>
        <p:spPr>
          <a:xfrm>
            <a:off x="1745824" y="1784885"/>
            <a:ext cx="8815496" cy="4211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065" marR="5080" indent="0" algn="just">
              <a:lnSpc>
                <a:spcPct val="154800"/>
              </a:lnSpc>
              <a:spcBef>
                <a:spcPts val="100"/>
              </a:spcBef>
              <a:buNone/>
            </a:pPr>
            <a:r>
              <a:rPr lang="es-ES" sz="17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La Práctica Pre Profesional debe cumplir con los siguientes propósitos:</a:t>
            </a:r>
          </a:p>
          <a:p>
            <a:pPr marL="469265" marR="5080" indent="-457200" algn="just">
              <a:lnSpc>
                <a:spcPct val="1548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s-ES" sz="17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Estar dirigida a la aplicación directa de los conocimientos adquiridos  por el estudiante para el ejercicio de su profesión.</a:t>
            </a:r>
          </a:p>
          <a:p>
            <a:pPr marL="469265" marR="5080" indent="-457200" algn="just">
              <a:lnSpc>
                <a:spcPct val="1548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s-ES" sz="17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Complementar la formación académica del estudiante.</a:t>
            </a:r>
          </a:p>
          <a:p>
            <a:pPr marL="469265" marR="5080" indent="-457200" algn="just">
              <a:lnSpc>
                <a:spcPct val="1548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s-ES" sz="17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Motivar al estudiante para el desarrollo de su capacidad y creatividad  en el campo profesional.</a:t>
            </a:r>
          </a:p>
          <a:p>
            <a:pPr marL="469265" marR="5080" indent="-457200" algn="just">
              <a:lnSpc>
                <a:spcPct val="1548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s-ES" sz="17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Contribuir al logro de la Misión y Visión de la Carrera Profesional en lo  referente a interactuar con la sociedad en busca de soluciones a sus  problemas o en la optimización de los procesos productivos.</a:t>
            </a:r>
          </a:p>
          <a:p>
            <a:pPr marL="469265" marR="5080" indent="-457200" algn="just">
              <a:lnSpc>
                <a:spcPct val="1548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s-ES" sz="17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Proporcionarle al estudiante conocimientos y desarrollar en él  habilidades especiales para su futuro desempeño profesional</a:t>
            </a:r>
            <a:r>
              <a:rPr lang="es-ES" sz="1700" dirty="0">
                <a:latin typeface="Corbel"/>
                <a:cs typeface="Corbel"/>
              </a:rPr>
              <a:t>. </a:t>
            </a:r>
            <a:endParaRPr lang="es-ES_tradnl" sz="1700" b="1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4955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4390B97-38DD-DA76-EE22-379551E20F49}"/>
              </a:ext>
            </a:extLst>
          </p:cNvPr>
          <p:cNvSpPr txBox="1"/>
          <p:nvPr/>
        </p:nvSpPr>
        <p:spPr>
          <a:xfrm rot="16200000">
            <a:off x="-1601291" y="2295506"/>
            <a:ext cx="37717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Práctica </a:t>
            </a:r>
            <a:r>
              <a:rPr lang="es-ES_tradnl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Preprofesional</a:t>
            </a:r>
            <a:r>
              <a:rPr lang="es-ES_tradnl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Terminal I – Sesión 1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C830C38-C32A-3116-4D61-02BCF14DFE8E}"/>
              </a:ext>
            </a:extLst>
          </p:cNvPr>
          <p:cNvSpPr txBox="1"/>
          <p:nvPr/>
        </p:nvSpPr>
        <p:spPr>
          <a:xfrm>
            <a:off x="1745824" y="923545"/>
            <a:ext cx="4773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b="1" dirty="0">
                <a:solidFill>
                  <a:srgbClr val="6C0E1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Reglamento de PPP - Facultad de Ingeniería</a:t>
            </a: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F3D9AB27-67F1-E7F3-803C-FAA1B27673A4}"/>
              </a:ext>
            </a:extLst>
          </p:cNvPr>
          <p:cNvCxnSpPr>
            <a:cxnSpLocks/>
          </p:cNvCxnSpPr>
          <p:nvPr/>
        </p:nvCxnSpPr>
        <p:spPr>
          <a:xfrm>
            <a:off x="1655875" y="863570"/>
            <a:ext cx="0" cy="545148"/>
          </a:xfrm>
          <a:prstGeom prst="straightConnector1">
            <a:avLst/>
          </a:prstGeom>
          <a:ln w="38100">
            <a:solidFill>
              <a:srgbClr val="6C0E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7D91D40B-CCA2-6D35-AB96-77251C24F2AB}"/>
              </a:ext>
            </a:extLst>
          </p:cNvPr>
          <p:cNvSpPr txBox="1"/>
          <p:nvPr/>
        </p:nvSpPr>
        <p:spPr>
          <a:xfrm>
            <a:off x="1745824" y="1784885"/>
            <a:ext cx="8815496" cy="44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065" marR="5080" indent="0" algn="just">
              <a:lnSpc>
                <a:spcPct val="154800"/>
              </a:lnSpc>
              <a:spcBef>
                <a:spcPts val="100"/>
              </a:spcBef>
              <a:buNone/>
            </a:pPr>
            <a:r>
              <a:rPr lang="es-ES" sz="17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 reglamento de Práctica Pre Profesional establece:</a:t>
            </a:r>
          </a:p>
        </p:txBody>
      </p:sp>
    </p:spTree>
    <p:extLst>
      <p:ext uri="{BB962C8B-B14F-4D97-AF65-F5344CB8AC3E}">
        <p14:creationId xmlns:p14="http://schemas.microsoft.com/office/powerpoint/2010/main" val="29456037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4390B97-38DD-DA76-EE22-379551E20F49}"/>
              </a:ext>
            </a:extLst>
          </p:cNvPr>
          <p:cNvSpPr txBox="1"/>
          <p:nvPr/>
        </p:nvSpPr>
        <p:spPr>
          <a:xfrm rot="16200000">
            <a:off x="-1601291" y="2295506"/>
            <a:ext cx="37717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Práctica </a:t>
            </a:r>
            <a:r>
              <a:rPr lang="es-ES_tradnl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Preprofesional</a:t>
            </a:r>
            <a:r>
              <a:rPr lang="es-ES_tradnl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Terminal I – Sesión 1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C830C38-C32A-3116-4D61-02BCF14DFE8E}"/>
              </a:ext>
            </a:extLst>
          </p:cNvPr>
          <p:cNvSpPr txBox="1"/>
          <p:nvPr/>
        </p:nvSpPr>
        <p:spPr>
          <a:xfrm>
            <a:off x="1745824" y="923545"/>
            <a:ext cx="4773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b="1" dirty="0">
                <a:solidFill>
                  <a:srgbClr val="6C0E1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Documentos requeridos</a:t>
            </a: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F3D9AB27-67F1-E7F3-803C-FAA1B27673A4}"/>
              </a:ext>
            </a:extLst>
          </p:cNvPr>
          <p:cNvCxnSpPr>
            <a:cxnSpLocks/>
          </p:cNvCxnSpPr>
          <p:nvPr/>
        </p:nvCxnSpPr>
        <p:spPr>
          <a:xfrm>
            <a:off x="1655875" y="863570"/>
            <a:ext cx="0" cy="545148"/>
          </a:xfrm>
          <a:prstGeom prst="straightConnector1">
            <a:avLst/>
          </a:prstGeom>
          <a:ln w="38100">
            <a:solidFill>
              <a:srgbClr val="6C0E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7D91D40B-CCA2-6D35-AB96-77251C24F2AB}"/>
              </a:ext>
            </a:extLst>
          </p:cNvPr>
          <p:cNvSpPr txBox="1"/>
          <p:nvPr/>
        </p:nvSpPr>
        <p:spPr>
          <a:xfrm>
            <a:off x="1745824" y="1784885"/>
            <a:ext cx="8815496" cy="4681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69265" marR="5080" indent="-457200" algn="just">
              <a:lnSpc>
                <a:spcPct val="1548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s-ES" sz="17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Solicitud de carta de presentación</a:t>
            </a:r>
          </a:p>
          <a:p>
            <a:pPr marL="469265" marR="5080" indent="-457200" algn="just">
              <a:lnSpc>
                <a:spcPct val="1548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s-ES" sz="17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Carta de presentación del practicante, emitida por la Escuela</a:t>
            </a:r>
          </a:p>
          <a:p>
            <a:pPr marL="469265" marR="5080" indent="-457200" algn="just">
              <a:lnSpc>
                <a:spcPct val="1548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s-ES" sz="17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Carta de aceptación del centro de prácticas o Convenio de prácticas</a:t>
            </a:r>
          </a:p>
          <a:p>
            <a:pPr marL="469265" marR="5080" indent="-457200" algn="just">
              <a:lnSpc>
                <a:spcPct val="1548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s-ES" sz="17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CV del practicante</a:t>
            </a:r>
          </a:p>
          <a:p>
            <a:pPr marL="469265" marR="5080" indent="-457200" algn="just">
              <a:lnSpc>
                <a:spcPct val="1548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s-ES" sz="17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Plan de prácticas</a:t>
            </a:r>
          </a:p>
          <a:p>
            <a:pPr marL="469265" marR="5080" indent="-457200" algn="just">
              <a:lnSpc>
                <a:spcPct val="1548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s-ES" sz="17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Ficha de supervisión del practicante</a:t>
            </a:r>
          </a:p>
          <a:p>
            <a:pPr marL="469265" marR="5080" indent="-457200" algn="just">
              <a:lnSpc>
                <a:spcPct val="1548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s-ES" sz="17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Actas de reunión de seguimiento</a:t>
            </a:r>
          </a:p>
          <a:p>
            <a:pPr marL="469265" marR="5080" indent="-457200" algn="just">
              <a:lnSpc>
                <a:spcPct val="1548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s-ES" sz="17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Carta de conformidad de entrega del proyecto de prácticas</a:t>
            </a:r>
          </a:p>
          <a:p>
            <a:pPr marL="469265" marR="5080" indent="-457200" algn="just">
              <a:lnSpc>
                <a:spcPct val="1548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s-ES" sz="17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Informe de prácticas</a:t>
            </a:r>
          </a:p>
          <a:p>
            <a:pPr marL="469265" marR="5080" indent="-457200" algn="just">
              <a:lnSpc>
                <a:spcPct val="1548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s-ES" sz="1700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469265" marR="5080" indent="-457200" algn="just">
              <a:lnSpc>
                <a:spcPct val="1548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s-ES_tradnl" sz="170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25541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4390B97-38DD-DA76-EE22-379551E20F49}"/>
              </a:ext>
            </a:extLst>
          </p:cNvPr>
          <p:cNvSpPr txBox="1"/>
          <p:nvPr/>
        </p:nvSpPr>
        <p:spPr>
          <a:xfrm rot="16200000">
            <a:off x="-1601291" y="2295506"/>
            <a:ext cx="37717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Práctica </a:t>
            </a:r>
            <a:r>
              <a:rPr lang="es-ES_tradnl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Preprofesional</a:t>
            </a:r>
            <a:r>
              <a:rPr lang="es-ES_tradnl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Terminal I – Sesión 1</a:t>
            </a: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F3D9AB27-67F1-E7F3-803C-FAA1B27673A4}"/>
              </a:ext>
            </a:extLst>
          </p:cNvPr>
          <p:cNvCxnSpPr>
            <a:cxnSpLocks/>
          </p:cNvCxnSpPr>
          <p:nvPr/>
        </p:nvCxnSpPr>
        <p:spPr>
          <a:xfrm>
            <a:off x="1655875" y="863570"/>
            <a:ext cx="0" cy="545148"/>
          </a:xfrm>
          <a:prstGeom prst="straightConnector1">
            <a:avLst/>
          </a:prstGeom>
          <a:ln w="38100">
            <a:solidFill>
              <a:srgbClr val="6C0E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>
            <a:extLst>
              <a:ext uri="{FF2B5EF4-FFF2-40B4-BE49-F238E27FC236}">
                <a16:creationId xmlns:a16="http://schemas.microsoft.com/office/drawing/2014/main" id="{20C71E6A-C134-7478-DC8A-5A0C9142F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50" y="771085"/>
            <a:ext cx="5191850" cy="484890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DE8C309-E947-34FA-222C-C44D43678E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797" y="863570"/>
            <a:ext cx="4982270" cy="1914792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8AF9566-55E2-8EB1-C37E-9DBFEE1455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797" y="2887263"/>
            <a:ext cx="4972744" cy="289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8648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4390B97-38DD-DA76-EE22-379551E20F49}"/>
              </a:ext>
            </a:extLst>
          </p:cNvPr>
          <p:cNvSpPr txBox="1"/>
          <p:nvPr/>
        </p:nvSpPr>
        <p:spPr>
          <a:xfrm rot="16200000">
            <a:off x="-1601291" y="2295506"/>
            <a:ext cx="37717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Práctica </a:t>
            </a:r>
            <a:r>
              <a:rPr lang="es-ES_tradnl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Preprofesional</a:t>
            </a:r>
            <a:r>
              <a:rPr lang="es-ES_tradnl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Terminal I – Sesión 1</a:t>
            </a: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F3D9AB27-67F1-E7F3-803C-FAA1B27673A4}"/>
              </a:ext>
            </a:extLst>
          </p:cNvPr>
          <p:cNvCxnSpPr>
            <a:cxnSpLocks/>
          </p:cNvCxnSpPr>
          <p:nvPr/>
        </p:nvCxnSpPr>
        <p:spPr>
          <a:xfrm>
            <a:off x="1655875" y="863570"/>
            <a:ext cx="0" cy="545148"/>
          </a:xfrm>
          <a:prstGeom prst="straightConnector1">
            <a:avLst/>
          </a:prstGeom>
          <a:ln w="38100">
            <a:solidFill>
              <a:srgbClr val="6C0E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Imagen 22">
            <a:extLst>
              <a:ext uri="{FF2B5EF4-FFF2-40B4-BE49-F238E27FC236}">
                <a16:creationId xmlns:a16="http://schemas.microsoft.com/office/drawing/2014/main" id="{D61349DF-5B84-CA79-12C6-548383B93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536" y="291150"/>
            <a:ext cx="9802593" cy="6439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6921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4390B97-38DD-DA76-EE22-379551E20F49}"/>
              </a:ext>
            </a:extLst>
          </p:cNvPr>
          <p:cNvSpPr txBox="1"/>
          <p:nvPr/>
        </p:nvSpPr>
        <p:spPr>
          <a:xfrm rot="16200000">
            <a:off x="-1601291" y="2295506"/>
            <a:ext cx="37717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Práctica </a:t>
            </a:r>
            <a:r>
              <a:rPr lang="es-ES_tradnl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Preprofesional</a:t>
            </a:r>
            <a:r>
              <a:rPr lang="es-ES_tradnl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Terminal I – Sesión 1</a:t>
            </a: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F3D9AB27-67F1-E7F3-803C-FAA1B27673A4}"/>
              </a:ext>
            </a:extLst>
          </p:cNvPr>
          <p:cNvCxnSpPr>
            <a:cxnSpLocks/>
          </p:cNvCxnSpPr>
          <p:nvPr/>
        </p:nvCxnSpPr>
        <p:spPr>
          <a:xfrm>
            <a:off x="1655875" y="863570"/>
            <a:ext cx="0" cy="545148"/>
          </a:xfrm>
          <a:prstGeom prst="straightConnector1">
            <a:avLst/>
          </a:prstGeom>
          <a:ln w="38100">
            <a:solidFill>
              <a:srgbClr val="6C0E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F1478F0B-4FC1-BE98-DAFB-64D751CA6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369" y="383428"/>
            <a:ext cx="9535261" cy="6241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2343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4390B97-38DD-DA76-EE22-379551E20F49}"/>
              </a:ext>
            </a:extLst>
          </p:cNvPr>
          <p:cNvSpPr txBox="1"/>
          <p:nvPr/>
        </p:nvSpPr>
        <p:spPr>
          <a:xfrm rot="16200000">
            <a:off x="-1601291" y="2295506"/>
            <a:ext cx="37717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Práctica </a:t>
            </a:r>
            <a:r>
              <a:rPr lang="es-ES_tradnl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Preprofesional</a:t>
            </a:r>
            <a:r>
              <a:rPr lang="es-ES_tradnl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Terminal I – Sesión 1</a:t>
            </a: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F3D9AB27-67F1-E7F3-803C-FAA1B27673A4}"/>
              </a:ext>
            </a:extLst>
          </p:cNvPr>
          <p:cNvCxnSpPr>
            <a:cxnSpLocks/>
          </p:cNvCxnSpPr>
          <p:nvPr/>
        </p:nvCxnSpPr>
        <p:spPr>
          <a:xfrm>
            <a:off x="1655875" y="863570"/>
            <a:ext cx="0" cy="545148"/>
          </a:xfrm>
          <a:prstGeom prst="straightConnector1">
            <a:avLst/>
          </a:prstGeom>
          <a:ln w="38100">
            <a:solidFill>
              <a:srgbClr val="6C0E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B8CEC79D-6891-D2E8-D928-1BCF244F1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866" y="372910"/>
            <a:ext cx="9836790" cy="6112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2660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4390B97-38DD-DA76-EE22-379551E20F49}"/>
              </a:ext>
            </a:extLst>
          </p:cNvPr>
          <p:cNvSpPr txBox="1"/>
          <p:nvPr/>
        </p:nvSpPr>
        <p:spPr>
          <a:xfrm rot="16200000">
            <a:off x="-1601291" y="2295506"/>
            <a:ext cx="37717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Práctica </a:t>
            </a:r>
            <a:r>
              <a:rPr lang="es-ES_tradnl" sz="1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Preprofesional</a:t>
            </a:r>
            <a:r>
              <a:rPr lang="es-ES_tradnl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Terminal I – Sesión 1</a:t>
            </a: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F3D9AB27-67F1-E7F3-803C-FAA1B27673A4}"/>
              </a:ext>
            </a:extLst>
          </p:cNvPr>
          <p:cNvCxnSpPr>
            <a:cxnSpLocks/>
          </p:cNvCxnSpPr>
          <p:nvPr/>
        </p:nvCxnSpPr>
        <p:spPr>
          <a:xfrm>
            <a:off x="1655875" y="863570"/>
            <a:ext cx="0" cy="545148"/>
          </a:xfrm>
          <a:prstGeom prst="straightConnector1">
            <a:avLst/>
          </a:prstGeom>
          <a:ln w="38100">
            <a:solidFill>
              <a:srgbClr val="6C0E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CB212B99-287F-E81D-EDA4-EA80F1A05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0496" y="199574"/>
            <a:ext cx="5611008" cy="6458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8078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FB681384-66C7-23B9-3275-3D6C57F06900}"/>
              </a:ext>
            </a:extLst>
          </p:cNvPr>
          <p:cNvGrpSpPr/>
          <p:nvPr/>
        </p:nvGrpSpPr>
        <p:grpSpPr>
          <a:xfrm>
            <a:off x="10717618" y="5385392"/>
            <a:ext cx="441250" cy="441250"/>
            <a:chOff x="10526232" y="5438554"/>
            <a:chExt cx="590106" cy="590106"/>
          </a:xfrm>
        </p:grpSpPr>
        <p:sp>
          <p:nvSpPr>
            <p:cNvPr id="2" name="Rectángulo 1">
              <a:extLst>
                <a:ext uri="{FF2B5EF4-FFF2-40B4-BE49-F238E27FC236}">
                  <a16:creationId xmlns:a16="http://schemas.microsoft.com/office/drawing/2014/main" id="{BA329269-0B56-F3CB-65C6-B2C8E80C4A64}"/>
                </a:ext>
              </a:extLst>
            </p:cNvPr>
            <p:cNvSpPr/>
            <p:nvPr/>
          </p:nvSpPr>
          <p:spPr>
            <a:xfrm>
              <a:off x="10526232" y="5438554"/>
              <a:ext cx="590106" cy="5901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3" name="Flecha derecha 2">
              <a:extLst>
                <a:ext uri="{FF2B5EF4-FFF2-40B4-BE49-F238E27FC236}">
                  <a16:creationId xmlns:a16="http://schemas.microsoft.com/office/drawing/2014/main" id="{C7F75A40-F550-85E7-D5F5-489E8F8D6E12}"/>
                </a:ext>
              </a:extLst>
            </p:cNvPr>
            <p:cNvSpPr/>
            <p:nvPr/>
          </p:nvSpPr>
          <p:spPr>
            <a:xfrm>
              <a:off x="10704273" y="5612449"/>
              <a:ext cx="234023" cy="242316"/>
            </a:xfrm>
            <a:prstGeom prst="rightArrow">
              <a:avLst/>
            </a:prstGeom>
            <a:solidFill>
              <a:srgbClr val="6C0E1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sp>
        <p:nvSpPr>
          <p:cNvPr id="5" name="CuadroTexto 4">
            <a:extLst>
              <a:ext uri="{FF2B5EF4-FFF2-40B4-BE49-F238E27FC236}">
                <a16:creationId xmlns:a16="http://schemas.microsoft.com/office/drawing/2014/main" id="{1D29DCA6-CC95-74C6-2434-4F65822CF571}"/>
              </a:ext>
            </a:extLst>
          </p:cNvPr>
          <p:cNvSpPr txBox="1"/>
          <p:nvPr/>
        </p:nvSpPr>
        <p:spPr>
          <a:xfrm>
            <a:off x="7211719" y="4209007"/>
            <a:ext cx="4043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36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Autoevaluación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72B848C-5EB1-AFEF-DBB9-899006E71E91}"/>
              </a:ext>
            </a:extLst>
          </p:cNvPr>
          <p:cNvSpPr txBox="1"/>
          <p:nvPr/>
        </p:nvSpPr>
        <p:spPr>
          <a:xfrm>
            <a:off x="9718158" y="4799485"/>
            <a:ext cx="1536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Sesión 1</a:t>
            </a:r>
          </a:p>
        </p:txBody>
      </p:sp>
    </p:spTree>
    <p:extLst>
      <p:ext uri="{BB962C8B-B14F-4D97-AF65-F5344CB8AC3E}">
        <p14:creationId xmlns:p14="http://schemas.microsoft.com/office/powerpoint/2010/main" val="19366166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E8E1096-E443-5FFF-25D6-F254A7E02406}"/>
              </a:ext>
            </a:extLst>
          </p:cNvPr>
          <p:cNvSpPr txBox="1"/>
          <p:nvPr/>
        </p:nvSpPr>
        <p:spPr>
          <a:xfrm rot="16200000">
            <a:off x="-1956735" y="3076589"/>
            <a:ext cx="50897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36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Pregunta 1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B0844B7-A4D7-5E90-CCE1-81A0915D10CF}"/>
              </a:ext>
            </a:extLst>
          </p:cNvPr>
          <p:cNvSpPr txBox="1"/>
          <p:nvPr/>
        </p:nvSpPr>
        <p:spPr>
          <a:xfrm>
            <a:off x="2234924" y="859747"/>
            <a:ext cx="40652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b="1" dirty="0">
                <a:solidFill>
                  <a:srgbClr val="6C0E1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¿De qué trata la Ley 28518?</a:t>
            </a: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2406E181-6F2D-2260-462D-FEA5B0A87127}"/>
              </a:ext>
            </a:extLst>
          </p:cNvPr>
          <p:cNvCxnSpPr>
            <a:cxnSpLocks/>
          </p:cNvCxnSpPr>
          <p:nvPr/>
        </p:nvCxnSpPr>
        <p:spPr>
          <a:xfrm>
            <a:off x="2144975" y="799772"/>
            <a:ext cx="0" cy="545148"/>
          </a:xfrm>
          <a:prstGeom prst="straightConnector1">
            <a:avLst/>
          </a:prstGeom>
          <a:ln w="38100">
            <a:solidFill>
              <a:srgbClr val="6C0E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4588CAA9-2B5B-5B73-DF33-8AEE8CFD491F}"/>
              </a:ext>
            </a:extLst>
          </p:cNvPr>
          <p:cNvSpPr txBox="1"/>
          <p:nvPr/>
        </p:nvSpPr>
        <p:spPr>
          <a:xfrm>
            <a:off x="2743200" y="1866167"/>
            <a:ext cx="71794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_tradnl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Modalidades Formativas Laborales</a:t>
            </a:r>
          </a:p>
          <a:p>
            <a:pPr algn="just"/>
            <a:endParaRPr lang="es-ES_tradnl" sz="1400" b="1" dirty="0">
              <a:solidFill>
                <a:srgbClr val="4156A6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5703483C-78FA-13A9-EB40-91062376A63F}"/>
              </a:ext>
            </a:extLst>
          </p:cNvPr>
          <p:cNvSpPr/>
          <p:nvPr/>
        </p:nvSpPr>
        <p:spPr>
          <a:xfrm>
            <a:off x="2269323" y="2013477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rgbClr val="6C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0E50DFE-3AC2-A2C3-DCD0-35A80D2075CC}"/>
              </a:ext>
            </a:extLst>
          </p:cNvPr>
          <p:cNvSpPr txBox="1"/>
          <p:nvPr/>
        </p:nvSpPr>
        <p:spPr>
          <a:xfrm>
            <a:off x="2743200" y="2881397"/>
            <a:ext cx="7179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PE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Gestión Universitaria</a:t>
            </a:r>
            <a:endParaRPr lang="es-ES_tradnl" sz="1400" dirty="0">
              <a:solidFill>
                <a:srgbClr val="4156A6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3D5E830D-1272-B7A3-DC67-883C84D05ED0}"/>
              </a:ext>
            </a:extLst>
          </p:cNvPr>
          <p:cNvSpPr/>
          <p:nvPr/>
        </p:nvSpPr>
        <p:spPr>
          <a:xfrm>
            <a:off x="2269323" y="3028707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rgbClr val="6C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4835995-8645-5FD3-334F-6240ACA150D8}"/>
              </a:ext>
            </a:extLst>
          </p:cNvPr>
          <p:cNvSpPr txBox="1"/>
          <p:nvPr/>
        </p:nvSpPr>
        <p:spPr>
          <a:xfrm>
            <a:off x="2743200" y="3896627"/>
            <a:ext cx="7179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PE" sz="14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Licenciamiento Institucional</a:t>
            </a:r>
            <a:endParaRPr lang="es-ES_tradnl" sz="1400" b="1" dirty="0">
              <a:solidFill>
                <a:srgbClr val="4156A6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BE963A9E-A617-045E-6B55-F79325AEFB80}"/>
              </a:ext>
            </a:extLst>
          </p:cNvPr>
          <p:cNvSpPr/>
          <p:nvPr/>
        </p:nvSpPr>
        <p:spPr>
          <a:xfrm>
            <a:off x="2269323" y="4043937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rgbClr val="6C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0CB5E7C-9B51-6EF0-F2CA-2CB70EAC58EE}"/>
              </a:ext>
            </a:extLst>
          </p:cNvPr>
          <p:cNvSpPr txBox="1"/>
          <p:nvPr/>
        </p:nvSpPr>
        <p:spPr>
          <a:xfrm>
            <a:off x="2743200" y="4911857"/>
            <a:ext cx="7179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PE" sz="1400" i="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Acreditación Universitaria</a:t>
            </a:r>
            <a:endParaRPr lang="es-ES_tradnl" sz="1400" dirty="0">
              <a:solidFill>
                <a:srgbClr val="4156A6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07792F1D-5399-A876-498A-3AB89D1DD676}"/>
              </a:ext>
            </a:extLst>
          </p:cNvPr>
          <p:cNvSpPr/>
          <p:nvPr/>
        </p:nvSpPr>
        <p:spPr>
          <a:xfrm>
            <a:off x="2269323" y="5059167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rgbClr val="6C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388976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E8E1096-E443-5FFF-25D6-F254A7E02406}"/>
              </a:ext>
            </a:extLst>
          </p:cNvPr>
          <p:cNvSpPr txBox="1"/>
          <p:nvPr/>
        </p:nvSpPr>
        <p:spPr>
          <a:xfrm rot="16200000">
            <a:off x="-1956735" y="3076589"/>
            <a:ext cx="50897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36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Pregunta 2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B0844B7-A4D7-5E90-CCE1-81A0915D10CF}"/>
              </a:ext>
            </a:extLst>
          </p:cNvPr>
          <p:cNvSpPr txBox="1"/>
          <p:nvPr/>
        </p:nvSpPr>
        <p:spPr>
          <a:xfrm>
            <a:off x="2269323" y="854866"/>
            <a:ext cx="4211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b="1" dirty="0">
                <a:solidFill>
                  <a:srgbClr val="6C0E1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¿Qué es la Práctica </a:t>
            </a:r>
            <a:r>
              <a:rPr lang="es-ES_tradnl" sz="2000" b="1" dirty="0" err="1">
                <a:solidFill>
                  <a:srgbClr val="6C0E1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Preprofesional</a:t>
            </a:r>
            <a:r>
              <a:rPr lang="es-ES_tradnl" sz="2000" b="1" dirty="0">
                <a:solidFill>
                  <a:srgbClr val="6C0E1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?</a:t>
            </a: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2406E181-6F2D-2260-462D-FEA5B0A87127}"/>
              </a:ext>
            </a:extLst>
          </p:cNvPr>
          <p:cNvCxnSpPr>
            <a:cxnSpLocks/>
          </p:cNvCxnSpPr>
          <p:nvPr/>
        </p:nvCxnSpPr>
        <p:spPr>
          <a:xfrm>
            <a:off x="2144975" y="799772"/>
            <a:ext cx="0" cy="545148"/>
          </a:xfrm>
          <a:prstGeom prst="straightConnector1">
            <a:avLst/>
          </a:prstGeom>
          <a:ln w="38100">
            <a:solidFill>
              <a:srgbClr val="6C0E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4588CAA9-2B5B-5B73-DF33-8AEE8CFD491F}"/>
              </a:ext>
            </a:extLst>
          </p:cNvPr>
          <p:cNvSpPr txBox="1"/>
          <p:nvPr/>
        </p:nvSpPr>
        <p:spPr>
          <a:xfrm>
            <a:off x="2743200" y="1866167"/>
            <a:ext cx="7179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PE" sz="1400" i="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Una beca para estudios de posgrado</a:t>
            </a:r>
            <a:endParaRPr lang="es-ES_tradnl" sz="1400" dirty="0">
              <a:solidFill>
                <a:srgbClr val="4156A6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5703483C-78FA-13A9-EB40-91062376A63F}"/>
              </a:ext>
            </a:extLst>
          </p:cNvPr>
          <p:cNvSpPr/>
          <p:nvPr/>
        </p:nvSpPr>
        <p:spPr>
          <a:xfrm>
            <a:off x="2269323" y="2013477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rgbClr val="6C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0E50DFE-3AC2-A2C3-DCD0-35A80D2075CC}"/>
              </a:ext>
            </a:extLst>
          </p:cNvPr>
          <p:cNvSpPr txBox="1"/>
          <p:nvPr/>
        </p:nvSpPr>
        <p:spPr>
          <a:xfrm>
            <a:off x="2743200" y="2881397"/>
            <a:ext cx="7179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PE" sz="1400" i="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Una modalidad formativa laboral con un máximo de 30 horas semanales</a:t>
            </a:r>
            <a:endParaRPr lang="es-ES_tradnl" sz="1400" dirty="0">
              <a:solidFill>
                <a:srgbClr val="4156A6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3D5E830D-1272-B7A3-DC67-883C84D05ED0}"/>
              </a:ext>
            </a:extLst>
          </p:cNvPr>
          <p:cNvSpPr/>
          <p:nvPr/>
        </p:nvSpPr>
        <p:spPr>
          <a:xfrm>
            <a:off x="2269323" y="3028707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rgbClr val="6C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4835995-8645-5FD3-334F-6240ACA150D8}"/>
              </a:ext>
            </a:extLst>
          </p:cNvPr>
          <p:cNvSpPr txBox="1"/>
          <p:nvPr/>
        </p:nvSpPr>
        <p:spPr>
          <a:xfrm>
            <a:off x="2743200" y="3896627"/>
            <a:ext cx="7179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PE" sz="1400" i="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Un contrato de trabajo por 48 horas semanales</a:t>
            </a:r>
            <a:endParaRPr lang="es-ES_tradnl" sz="1400" dirty="0">
              <a:solidFill>
                <a:srgbClr val="4156A6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BE963A9E-A617-045E-6B55-F79325AEFB80}"/>
              </a:ext>
            </a:extLst>
          </p:cNvPr>
          <p:cNvSpPr/>
          <p:nvPr/>
        </p:nvSpPr>
        <p:spPr>
          <a:xfrm>
            <a:off x="2269323" y="4043937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rgbClr val="6C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0CB5E7C-9B51-6EF0-F2CA-2CB70EAC58EE}"/>
              </a:ext>
            </a:extLst>
          </p:cNvPr>
          <p:cNvSpPr txBox="1"/>
          <p:nvPr/>
        </p:nvSpPr>
        <p:spPr>
          <a:xfrm>
            <a:off x="2743200" y="4911857"/>
            <a:ext cx="7179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PE" sz="1400" i="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Un programa para estudios de pregrado </a:t>
            </a:r>
            <a:endParaRPr lang="es-ES_tradnl" sz="1400" dirty="0">
              <a:solidFill>
                <a:srgbClr val="4156A6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07792F1D-5399-A876-498A-3AB89D1DD676}"/>
              </a:ext>
            </a:extLst>
          </p:cNvPr>
          <p:cNvSpPr/>
          <p:nvPr/>
        </p:nvSpPr>
        <p:spPr>
          <a:xfrm>
            <a:off x="2269323" y="5059167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rgbClr val="6C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767949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E8E1096-E443-5FFF-25D6-F254A7E02406}"/>
              </a:ext>
            </a:extLst>
          </p:cNvPr>
          <p:cNvSpPr txBox="1"/>
          <p:nvPr/>
        </p:nvSpPr>
        <p:spPr>
          <a:xfrm rot="16200000">
            <a:off x="-1956735" y="3076589"/>
            <a:ext cx="50897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36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Pregunta 3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B0844B7-A4D7-5E90-CCE1-81A0915D10CF}"/>
              </a:ext>
            </a:extLst>
          </p:cNvPr>
          <p:cNvSpPr txBox="1"/>
          <p:nvPr/>
        </p:nvSpPr>
        <p:spPr>
          <a:xfrm>
            <a:off x="2234924" y="859747"/>
            <a:ext cx="60861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b="1" dirty="0">
                <a:solidFill>
                  <a:srgbClr val="6C0E1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Participan del convenio de prácticas </a:t>
            </a:r>
            <a:r>
              <a:rPr lang="es-ES_tradnl" sz="2000" b="1" dirty="0" err="1">
                <a:solidFill>
                  <a:srgbClr val="6C0E1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preprofesionales</a:t>
            </a:r>
            <a:r>
              <a:rPr lang="es-ES_tradnl" sz="2000" b="1" dirty="0">
                <a:solidFill>
                  <a:srgbClr val="6C0E1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:</a:t>
            </a: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2406E181-6F2D-2260-462D-FEA5B0A87127}"/>
              </a:ext>
            </a:extLst>
          </p:cNvPr>
          <p:cNvCxnSpPr>
            <a:cxnSpLocks/>
          </p:cNvCxnSpPr>
          <p:nvPr/>
        </p:nvCxnSpPr>
        <p:spPr>
          <a:xfrm>
            <a:off x="2144975" y="799772"/>
            <a:ext cx="0" cy="545148"/>
          </a:xfrm>
          <a:prstGeom prst="straightConnector1">
            <a:avLst/>
          </a:prstGeom>
          <a:ln w="38100">
            <a:solidFill>
              <a:srgbClr val="6C0E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4588CAA9-2B5B-5B73-DF33-8AEE8CFD491F}"/>
              </a:ext>
            </a:extLst>
          </p:cNvPr>
          <p:cNvSpPr txBox="1"/>
          <p:nvPr/>
        </p:nvSpPr>
        <p:spPr>
          <a:xfrm>
            <a:off x="2743200" y="1866167"/>
            <a:ext cx="7179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PE" sz="14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Centro de formación, empresa y profesor</a:t>
            </a:r>
            <a:endParaRPr lang="es-ES_tradnl" sz="1400" b="1" dirty="0">
              <a:solidFill>
                <a:srgbClr val="4156A6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5703483C-78FA-13A9-EB40-91062376A63F}"/>
              </a:ext>
            </a:extLst>
          </p:cNvPr>
          <p:cNvSpPr/>
          <p:nvPr/>
        </p:nvSpPr>
        <p:spPr>
          <a:xfrm>
            <a:off x="2269323" y="2013477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rgbClr val="6C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0E50DFE-3AC2-A2C3-DCD0-35A80D2075CC}"/>
              </a:ext>
            </a:extLst>
          </p:cNvPr>
          <p:cNvSpPr txBox="1"/>
          <p:nvPr/>
        </p:nvSpPr>
        <p:spPr>
          <a:xfrm>
            <a:off x="2743200" y="2881397"/>
            <a:ext cx="7179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PE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Empresa y estudiante</a:t>
            </a:r>
            <a:endParaRPr lang="es-ES_tradnl" sz="1400" b="1" dirty="0">
              <a:solidFill>
                <a:srgbClr val="4156A6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3D5E830D-1272-B7A3-DC67-883C84D05ED0}"/>
              </a:ext>
            </a:extLst>
          </p:cNvPr>
          <p:cNvSpPr/>
          <p:nvPr/>
        </p:nvSpPr>
        <p:spPr>
          <a:xfrm>
            <a:off x="2269323" y="3028707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rgbClr val="6C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4835995-8645-5FD3-334F-6240ACA150D8}"/>
              </a:ext>
            </a:extLst>
          </p:cNvPr>
          <p:cNvSpPr txBox="1"/>
          <p:nvPr/>
        </p:nvSpPr>
        <p:spPr>
          <a:xfrm>
            <a:off x="2743200" y="3896627"/>
            <a:ext cx="7179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PE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Centro de formación, profesor y estudiante</a:t>
            </a:r>
            <a:endParaRPr lang="es-ES_tradnl" sz="1400" b="1" dirty="0">
              <a:solidFill>
                <a:srgbClr val="4156A6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BE963A9E-A617-045E-6B55-F79325AEFB80}"/>
              </a:ext>
            </a:extLst>
          </p:cNvPr>
          <p:cNvSpPr/>
          <p:nvPr/>
        </p:nvSpPr>
        <p:spPr>
          <a:xfrm>
            <a:off x="2269323" y="4043937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rgbClr val="6C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0CB5E7C-9B51-6EF0-F2CA-2CB70EAC58EE}"/>
              </a:ext>
            </a:extLst>
          </p:cNvPr>
          <p:cNvSpPr txBox="1"/>
          <p:nvPr/>
        </p:nvSpPr>
        <p:spPr>
          <a:xfrm>
            <a:off x="2743200" y="4911857"/>
            <a:ext cx="7179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PE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Centro de formación, empresa y estudiante</a:t>
            </a:r>
            <a:endParaRPr lang="es-ES_tradnl" sz="1400" b="1" dirty="0">
              <a:solidFill>
                <a:srgbClr val="4156A6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07792F1D-5399-A876-498A-3AB89D1DD676}"/>
              </a:ext>
            </a:extLst>
          </p:cNvPr>
          <p:cNvSpPr/>
          <p:nvPr/>
        </p:nvSpPr>
        <p:spPr>
          <a:xfrm>
            <a:off x="2269323" y="5059167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rgbClr val="6C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663148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E8E1096-E443-5FFF-25D6-F254A7E02406}"/>
              </a:ext>
            </a:extLst>
          </p:cNvPr>
          <p:cNvSpPr txBox="1"/>
          <p:nvPr/>
        </p:nvSpPr>
        <p:spPr>
          <a:xfrm rot="16200000">
            <a:off x="-1956735" y="3076589"/>
            <a:ext cx="50897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36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Pregunta 4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B0844B7-A4D7-5E90-CCE1-81A0915D10CF}"/>
              </a:ext>
            </a:extLst>
          </p:cNvPr>
          <p:cNvSpPr txBox="1"/>
          <p:nvPr/>
        </p:nvSpPr>
        <p:spPr>
          <a:xfrm>
            <a:off x="2234924" y="859747"/>
            <a:ext cx="78691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b="1" dirty="0">
                <a:solidFill>
                  <a:srgbClr val="6C0E1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Qué documento NO solicita la UCV en las Prácticas </a:t>
            </a:r>
            <a:r>
              <a:rPr lang="es-ES_tradnl" sz="2000" b="1" dirty="0" err="1">
                <a:solidFill>
                  <a:srgbClr val="6C0E1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Preprofesionales</a:t>
            </a:r>
            <a:r>
              <a:rPr lang="es-ES_tradnl" sz="2000" b="1" dirty="0">
                <a:solidFill>
                  <a:srgbClr val="6C0E1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2406E181-6F2D-2260-462D-FEA5B0A87127}"/>
              </a:ext>
            </a:extLst>
          </p:cNvPr>
          <p:cNvCxnSpPr>
            <a:cxnSpLocks/>
          </p:cNvCxnSpPr>
          <p:nvPr/>
        </p:nvCxnSpPr>
        <p:spPr>
          <a:xfrm>
            <a:off x="2144975" y="799772"/>
            <a:ext cx="0" cy="545148"/>
          </a:xfrm>
          <a:prstGeom prst="straightConnector1">
            <a:avLst/>
          </a:prstGeom>
          <a:ln w="38100">
            <a:solidFill>
              <a:srgbClr val="6C0E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4588CAA9-2B5B-5B73-DF33-8AEE8CFD491F}"/>
              </a:ext>
            </a:extLst>
          </p:cNvPr>
          <p:cNvSpPr txBox="1"/>
          <p:nvPr/>
        </p:nvSpPr>
        <p:spPr>
          <a:xfrm>
            <a:off x="2743200" y="1866167"/>
            <a:ext cx="7179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PE" sz="1400" i="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Carta de presentación del practicante</a:t>
            </a:r>
            <a:endParaRPr lang="es-ES_tradnl" sz="1400" dirty="0">
              <a:solidFill>
                <a:srgbClr val="4156A6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5703483C-78FA-13A9-EB40-91062376A63F}"/>
              </a:ext>
            </a:extLst>
          </p:cNvPr>
          <p:cNvSpPr/>
          <p:nvPr/>
        </p:nvSpPr>
        <p:spPr>
          <a:xfrm>
            <a:off x="2269323" y="2013477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rgbClr val="6C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0E50DFE-3AC2-A2C3-DCD0-35A80D2075CC}"/>
              </a:ext>
            </a:extLst>
          </p:cNvPr>
          <p:cNvSpPr txBox="1"/>
          <p:nvPr/>
        </p:nvSpPr>
        <p:spPr>
          <a:xfrm>
            <a:off x="2743200" y="2881397"/>
            <a:ext cx="7179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PE" sz="1400" i="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Plan de Prácticas</a:t>
            </a:r>
            <a:endParaRPr lang="es-ES_tradnl" sz="1400" dirty="0">
              <a:solidFill>
                <a:srgbClr val="4156A6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3D5E830D-1272-B7A3-DC67-883C84D05ED0}"/>
              </a:ext>
            </a:extLst>
          </p:cNvPr>
          <p:cNvSpPr/>
          <p:nvPr/>
        </p:nvSpPr>
        <p:spPr>
          <a:xfrm>
            <a:off x="2269323" y="3028707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rgbClr val="6C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4835995-8645-5FD3-334F-6240ACA150D8}"/>
              </a:ext>
            </a:extLst>
          </p:cNvPr>
          <p:cNvSpPr txBox="1"/>
          <p:nvPr/>
        </p:nvSpPr>
        <p:spPr>
          <a:xfrm>
            <a:off x="2743200" y="3896627"/>
            <a:ext cx="7179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PE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Constancia de notas</a:t>
            </a:r>
            <a:endParaRPr lang="es-ES_tradnl" sz="1400" dirty="0">
              <a:solidFill>
                <a:srgbClr val="4156A6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BE963A9E-A617-045E-6B55-F79325AEFB80}"/>
              </a:ext>
            </a:extLst>
          </p:cNvPr>
          <p:cNvSpPr/>
          <p:nvPr/>
        </p:nvSpPr>
        <p:spPr>
          <a:xfrm>
            <a:off x="2269323" y="4043937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rgbClr val="6C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0CB5E7C-9B51-6EF0-F2CA-2CB70EAC58EE}"/>
              </a:ext>
            </a:extLst>
          </p:cNvPr>
          <p:cNvSpPr txBox="1"/>
          <p:nvPr/>
        </p:nvSpPr>
        <p:spPr>
          <a:xfrm>
            <a:off x="2743200" y="4911857"/>
            <a:ext cx="7179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PE" sz="1400" i="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Carta de aceptación de prácticas</a:t>
            </a:r>
            <a:endParaRPr lang="es-ES_tradnl" sz="1400" dirty="0">
              <a:solidFill>
                <a:srgbClr val="4156A6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07792F1D-5399-A876-498A-3AB89D1DD676}"/>
              </a:ext>
            </a:extLst>
          </p:cNvPr>
          <p:cNvSpPr/>
          <p:nvPr/>
        </p:nvSpPr>
        <p:spPr>
          <a:xfrm>
            <a:off x="2269323" y="5059167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rgbClr val="6C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677030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20040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57F14EF-8E69-2E0C-FD15-BEA6E8A92125}"/>
              </a:ext>
            </a:extLst>
          </p:cNvPr>
          <p:cNvSpPr txBox="1"/>
          <p:nvPr/>
        </p:nvSpPr>
        <p:spPr>
          <a:xfrm>
            <a:off x="2445490" y="1430232"/>
            <a:ext cx="5613991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PE" sz="1400" b="1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Existe un marco normativo para la realización de prácticas </a:t>
            </a:r>
            <a:r>
              <a:rPr lang="es-PE" sz="1400" b="1" i="0" dirty="0" err="1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preprofesionales</a:t>
            </a:r>
            <a:r>
              <a:rPr lang="es-PE" sz="1400" b="1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en  el </a:t>
            </a:r>
            <a:r>
              <a:rPr lang="es-PE" sz="1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</a:t>
            </a:r>
            <a:r>
              <a:rPr lang="es-PE" sz="1400" b="1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erú mediante </a:t>
            </a:r>
            <a:r>
              <a:rPr lang="es-PE" sz="1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la Ley de Modalidades Formativas Laborales Ley </a:t>
            </a:r>
            <a:r>
              <a:rPr lang="es-ES_tradnl" sz="1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28518 </a:t>
            </a:r>
          </a:p>
          <a:p>
            <a:pPr algn="just"/>
            <a:endParaRPr lang="es-ES_tradnl" sz="1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s-ES_tradnl" sz="1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La Ley 28518 establece la necesidad de un convenio de prácticas ha firmar entre la empresa, el centro de formación profesional y el practicante. En ese convenio se definen la remuneración y la </a:t>
            </a:r>
            <a:r>
              <a:rPr lang="es-ES_tradnl" sz="1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jormado</a:t>
            </a:r>
            <a:r>
              <a:rPr lang="es-ES_tradnl" sz="1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laboral que no debe exceder las 30 horas semanales.</a:t>
            </a:r>
          </a:p>
          <a:p>
            <a:pPr algn="just"/>
            <a:endParaRPr lang="es-ES_tradnl" sz="1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endParaRPr lang="es-ES_tradnl" sz="1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s-ES_tradnl" sz="1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La UCV define una serie de documentos que el practicante debe presentar de manera obligatoria en diversos momentos de la practica </a:t>
            </a:r>
            <a:r>
              <a:rPr lang="es-ES_tradnl" sz="1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preprofesional</a:t>
            </a:r>
            <a:r>
              <a:rPr lang="es-ES_tradnl" sz="1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 Entre ellos se establecen mecanismos para la evaluación del </a:t>
            </a:r>
            <a:r>
              <a:rPr lang="es-ES_tradnl" sz="1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prácticante</a:t>
            </a:r>
            <a:r>
              <a:rPr lang="es-ES_tradnl" sz="1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por parte de su jefe inmediato.</a:t>
            </a:r>
          </a:p>
        </p:txBody>
      </p:sp>
    </p:spTree>
    <p:extLst>
      <p:ext uri="{BB962C8B-B14F-4D97-AF65-F5344CB8AC3E}">
        <p14:creationId xmlns:p14="http://schemas.microsoft.com/office/powerpoint/2010/main" val="20670808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30E0D24-3899-52B7-26EB-DF16D0453311}"/>
              </a:ext>
            </a:extLst>
          </p:cNvPr>
          <p:cNvSpPr txBox="1"/>
          <p:nvPr/>
        </p:nvSpPr>
        <p:spPr>
          <a:xfrm>
            <a:off x="959774" y="849117"/>
            <a:ext cx="58237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36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ACTIVIDAD NO LECTIVA: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62F9DBA-2AA8-0DF9-6CC4-E6B30E926456}"/>
              </a:ext>
            </a:extLst>
          </p:cNvPr>
          <p:cNvSpPr txBox="1"/>
          <p:nvPr/>
        </p:nvSpPr>
        <p:spPr>
          <a:xfrm>
            <a:off x="959774" y="2528859"/>
            <a:ext cx="7237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Redactan un compromiso ético profesional basado en el reglamento de la institución.</a:t>
            </a:r>
            <a:endParaRPr lang="es-ES_tradnl" sz="1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45602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3AAE172-8E66-D8D8-684B-001036F75C79}"/>
              </a:ext>
            </a:extLst>
          </p:cNvPr>
          <p:cNvSpPr txBox="1"/>
          <p:nvPr/>
        </p:nvSpPr>
        <p:spPr>
          <a:xfrm>
            <a:off x="2445490" y="1430232"/>
            <a:ext cx="56139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PE" sz="1400" b="1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Ley de modalidades formativas</a:t>
            </a:r>
          </a:p>
          <a:p>
            <a:pPr algn="just"/>
            <a:endParaRPr lang="es-PE" sz="1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s-PE" sz="1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Reglamento de prácticas </a:t>
            </a:r>
            <a:r>
              <a:rPr lang="es-PE" sz="1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preprofesionales</a:t>
            </a:r>
            <a:endParaRPr lang="es-ES_tradnl" sz="1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40043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66719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671</TotalTime>
  <Words>1544</Words>
  <Application>Microsoft Office PowerPoint</Application>
  <PresentationFormat>Panorámica</PresentationFormat>
  <Paragraphs>144</Paragraphs>
  <Slides>31</Slides>
  <Notes>0</Notes>
  <HiddenSlides>0</HiddenSlides>
  <MMClips>1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37" baseType="lpstr">
      <vt:lpstr>Arial</vt:lpstr>
      <vt:lpstr>Calibri</vt:lpstr>
      <vt:lpstr>Calibri Light</vt:lpstr>
      <vt:lpstr>Corbel</vt:lpstr>
      <vt:lpstr>Roboto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New</dc:creator>
  <cp:lastModifiedBy>Jireh</cp:lastModifiedBy>
  <cp:revision>42</cp:revision>
  <dcterms:created xsi:type="dcterms:W3CDTF">2024-02-15T21:58:49Z</dcterms:created>
  <dcterms:modified xsi:type="dcterms:W3CDTF">2026-03-04T21:02:14Z</dcterms:modified>
</cp:coreProperties>
</file>